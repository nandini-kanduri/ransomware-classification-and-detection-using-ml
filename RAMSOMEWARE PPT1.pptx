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67" r:id="rId3"/>
    <p:sldId id="257" r:id="rId4"/>
    <p:sldId id="258" r:id="rId5"/>
    <p:sldId id="259" r:id="rId6"/>
    <p:sldId id="265" r:id="rId7"/>
    <p:sldId id="262" r:id="rId8"/>
    <p:sldId id="264" r:id="rId9"/>
    <p:sldId id="263" r:id="rId10"/>
    <p:sldId id="266" r:id="rId11"/>
    <p:sldId id="260"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9714" autoAdjust="0"/>
  </p:normalViewPr>
  <p:slideViewPr>
    <p:cSldViewPr>
      <p:cViewPr>
        <p:scale>
          <a:sx n="50" d="100"/>
          <a:sy n="50" d="100"/>
        </p:scale>
        <p:origin x="2100" y="33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6AD262E-AE8D-4AF3-B4BC-021EA607885F}" type="datetimeFigureOut">
              <a:rPr lang="en-US" smtClean="0"/>
              <a:pPr/>
              <a:t>3/26/2025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3299CE-E3FD-4D3E-9765-08F1080A672A}"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6AD262E-AE8D-4AF3-B4BC-021EA607885F}" type="datetimeFigureOut">
              <a:rPr lang="en-US" smtClean="0"/>
              <a:pPr/>
              <a:t>3/26/2025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3299CE-E3FD-4D3E-9765-08F1080A672A}"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6AD262E-AE8D-4AF3-B4BC-021EA607885F}" type="datetimeFigureOut">
              <a:rPr lang="en-US" smtClean="0"/>
              <a:pPr/>
              <a:t>3/26/2025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3299CE-E3FD-4D3E-9765-08F1080A672A}"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6AD262E-AE8D-4AF3-B4BC-021EA607885F}" type="datetimeFigureOut">
              <a:rPr lang="en-US" smtClean="0"/>
              <a:pPr/>
              <a:t>3/26/2025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3299CE-E3FD-4D3E-9765-08F1080A672A}"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6AD262E-AE8D-4AF3-B4BC-021EA607885F}" type="datetimeFigureOut">
              <a:rPr lang="en-US" smtClean="0"/>
              <a:pPr/>
              <a:t>3/26/2025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F3299CE-E3FD-4D3E-9765-08F1080A672A}"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6AD262E-AE8D-4AF3-B4BC-021EA607885F}" type="datetimeFigureOut">
              <a:rPr lang="en-US" smtClean="0"/>
              <a:pPr/>
              <a:t>3/26/2025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F3299CE-E3FD-4D3E-9765-08F1080A672A}"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6AD262E-AE8D-4AF3-B4BC-021EA607885F}" type="datetimeFigureOut">
              <a:rPr lang="en-US" smtClean="0"/>
              <a:pPr/>
              <a:t>3/26/2025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F3299CE-E3FD-4D3E-9765-08F1080A672A}"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6AD262E-AE8D-4AF3-B4BC-021EA607885F}" type="datetimeFigureOut">
              <a:rPr lang="en-US" smtClean="0"/>
              <a:pPr/>
              <a:t>3/26/2025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3299CE-E3FD-4D3E-9765-08F1080A672A}"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6AD262E-AE8D-4AF3-B4BC-021EA607885F}" type="datetimeFigureOut">
              <a:rPr lang="en-US" smtClean="0"/>
              <a:pPr/>
              <a:t>3/26/2025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3299CE-E3FD-4D3E-9765-08F1080A672A}"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6AD262E-AE8D-4AF3-B4BC-021EA607885F}" type="datetimeFigureOut">
              <a:rPr lang="en-US" smtClean="0"/>
              <a:pPr/>
              <a:t>3/26/2025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3299CE-E3FD-4D3E-9765-08F1080A672A}"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6AD262E-AE8D-4AF3-B4BC-021EA607885F}" type="datetimeFigureOut">
              <a:rPr lang="en-US" smtClean="0"/>
              <a:pPr/>
              <a:t>3/26/2025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F3299CE-E3FD-4D3E-9765-08F1080A672A}"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AD262E-AE8D-4AF3-B4BC-021EA607885F}" type="datetimeFigureOut">
              <a:rPr lang="en-US" smtClean="0"/>
              <a:pPr/>
              <a:t>3/26/2025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F3299CE-E3FD-4D3E-9765-08F1080A672A}"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93056" y="2514600"/>
            <a:ext cx="7993743" cy="1066800"/>
          </a:xfrm>
        </p:spPr>
        <p:txBody>
          <a:bodyPr>
            <a:noAutofit/>
          </a:bodyPr>
          <a:lstStyle/>
          <a:p>
            <a:r>
              <a:rPr lang="en-US" sz="2400" dirty="0">
                <a:latin typeface="Times New Roman" panose="02020603050405020304" pitchFamily="18" charset="0"/>
                <a:cs typeface="Times New Roman" panose="02020603050405020304" pitchFamily="18" charset="0"/>
              </a:rPr>
              <a:t>RANSOMWARE  CLASSIFICATION  AND  DETECTION USING  MACHINE LEARNING  ALGORITHMS</a:t>
            </a:r>
            <a:br>
              <a:rPr lang="en-US" sz="3200" dirty="0">
                <a:latin typeface="Times New Roman" panose="02020603050405020304" pitchFamily="18" charset="0"/>
                <a:cs typeface="Times New Roman" panose="02020603050405020304" pitchFamily="18" charset="0"/>
              </a:rPr>
            </a:br>
            <a:endParaRPr lang="en-US" sz="32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685800" y="4343400"/>
            <a:ext cx="3962400" cy="1752600"/>
          </a:xfrm>
        </p:spPr>
        <p:txBody>
          <a:bodyPr>
            <a:normAutofit fontScale="70000" lnSpcReduction="20000"/>
          </a:bodyPr>
          <a:lstStyle/>
          <a:p>
            <a:pPr algn="l"/>
            <a:r>
              <a:rPr lang="en-US" sz="2600" dirty="0">
                <a:solidFill>
                  <a:schemeClr val="tx1"/>
                </a:solidFill>
                <a:latin typeface="Times New Roman" panose="02020603050405020304" pitchFamily="18" charset="0"/>
                <a:cs typeface="Times New Roman" panose="02020603050405020304" pitchFamily="18" charset="0"/>
              </a:rPr>
              <a:t>Team :  </a:t>
            </a:r>
            <a:r>
              <a:rPr lang="en-US" sz="2300" dirty="0">
                <a:solidFill>
                  <a:schemeClr val="tx1"/>
                </a:solidFill>
                <a:latin typeface="Times New Roman" panose="02020603050405020304" pitchFamily="18" charset="0"/>
                <a:cs typeface="Times New Roman" panose="02020603050405020304" pitchFamily="18" charset="0"/>
              </a:rPr>
              <a:t>1. B. Suman  (22R05A6602)</a:t>
            </a:r>
          </a:p>
          <a:p>
            <a:pPr algn="l"/>
            <a:r>
              <a:rPr lang="en-US" sz="2300" dirty="0">
                <a:solidFill>
                  <a:schemeClr val="tx1"/>
                </a:solidFill>
                <a:latin typeface="Times New Roman" panose="02020603050405020304" pitchFamily="18" charset="0"/>
                <a:cs typeface="Times New Roman" panose="02020603050405020304" pitchFamily="18" charset="0"/>
              </a:rPr>
              <a:t>               2. D.Thanoj Sriman (22R05A6604)</a:t>
            </a:r>
          </a:p>
          <a:p>
            <a:pPr algn="l"/>
            <a:r>
              <a:rPr lang="en-US" sz="2300" dirty="0">
                <a:solidFill>
                  <a:schemeClr val="tx1"/>
                </a:solidFill>
                <a:latin typeface="Times New Roman" panose="02020603050405020304" pitchFamily="18" charset="0"/>
                <a:cs typeface="Times New Roman" panose="02020603050405020304" pitchFamily="18" charset="0"/>
              </a:rPr>
              <a:t>               3. K. Nandini  (22R05A6605)</a:t>
            </a:r>
          </a:p>
          <a:p>
            <a:pPr algn="l"/>
            <a:r>
              <a:rPr lang="en-US" sz="2600" dirty="0">
                <a:solidFill>
                  <a:schemeClr val="tx1"/>
                </a:solidFill>
                <a:latin typeface="Times New Roman" panose="02020603050405020304" pitchFamily="18" charset="0"/>
                <a:cs typeface="Times New Roman" panose="02020603050405020304" pitchFamily="18" charset="0"/>
              </a:rPr>
              <a:t>              </a:t>
            </a:r>
          </a:p>
          <a:p>
            <a:pPr algn="l"/>
            <a:r>
              <a:rPr lang="en-US" dirty="0">
                <a:solidFill>
                  <a:schemeClr val="tx1"/>
                </a:solidFill>
              </a:rPr>
              <a:t>      </a:t>
            </a:r>
          </a:p>
        </p:txBody>
      </p:sp>
      <p:sp>
        <p:nvSpPr>
          <p:cNvPr id="4" name="Subtitle 2"/>
          <p:cNvSpPr txBox="1"/>
          <p:nvPr/>
        </p:nvSpPr>
        <p:spPr>
          <a:xfrm>
            <a:off x="5257800" y="4267200"/>
            <a:ext cx="3581400" cy="1752600"/>
          </a:xfrm>
          <a:prstGeom prst="rect">
            <a:avLst/>
          </a:prstGeom>
        </p:spPr>
        <p:txBody>
          <a:bodyPr vert="horz" lIns="91440" tIns="45720" rIns="91440" bIns="45720" rtlCol="0">
            <a:normAutofit lnSpcReduction="10000"/>
          </a:bodyPr>
          <a:lstStyle/>
          <a:p>
            <a:pPr>
              <a:spcBef>
                <a:spcPct val="20000"/>
              </a:spcBef>
              <a:defRPr/>
            </a:pPr>
            <a:r>
              <a:rPr kumimoji="0" lang="en-US"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Guide: </a:t>
            </a:r>
            <a:r>
              <a:rPr lang="en-IN" sz="1800" b="1" kern="100" dirty="0">
                <a:solidFill>
                  <a:srgbClr val="000000"/>
                </a:solidFill>
                <a:effectLst/>
                <a:latin typeface="Times New Roman" panose="02020603050405020304" pitchFamily="18" charset="0"/>
                <a:ea typeface="Times New Roman" panose="02020603050405020304" pitchFamily="18" charset="0"/>
              </a:rPr>
              <a:t>Mr. V. SHIVA KUMAR</a:t>
            </a:r>
            <a:r>
              <a:rPr kumimoji="0" lang="en-US" b="0" i="0" u="none" strike="noStrike" kern="1200" cap="none" spc="0" normalizeH="0" noProof="0" dirty="0">
                <a:ln>
                  <a:noFill/>
                </a:ln>
                <a:solidFill>
                  <a:schemeClr val="tx1"/>
                </a:solidFill>
                <a:effectLst/>
                <a:uLnTx/>
                <a:uFillTx/>
                <a:latin typeface="Times New Roman" panose="02020603050405020304" pitchFamily="18" charset="0"/>
                <a:cs typeface="Times New Roman" panose="02020603050405020304" pitchFamily="18" charset="0"/>
              </a:rPr>
              <a:t>,</a:t>
            </a:r>
          </a:p>
          <a:p>
            <a:pPr>
              <a:spcBef>
                <a:spcPct val="20000"/>
              </a:spcBef>
              <a:defRPr/>
            </a:pPr>
            <a:endParaRPr kumimoji="0" lang="en-US" b="0" i="0" u="none" strike="noStrike" kern="1200" cap="none" spc="0" normalizeH="0" noProof="0" dirty="0">
              <a:ln>
                <a:noFill/>
              </a:ln>
              <a:solidFill>
                <a:schemeClr val="tx1"/>
              </a:solidFill>
              <a:effectLst/>
              <a:uLnTx/>
              <a:uFillTx/>
              <a:latin typeface="Times New Roman" panose="02020603050405020304" pitchFamily="18" charset="0"/>
              <a:cs typeface="Times New Roman" panose="02020603050405020304" pitchFamily="18" charset="0"/>
            </a:endParaRPr>
          </a:p>
          <a:p>
            <a:pPr marL="6350" marR="1270" indent="-6350" algn="just">
              <a:lnSpc>
                <a:spcPct val="107000"/>
              </a:lnSpc>
              <a:spcAft>
                <a:spcPts val="570"/>
              </a:spcAft>
            </a:pPr>
            <a:r>
              <a:rPr lang="en-US" baseline="0" dirty="0">
                <a:latin typeface="Times New Roman" panose="02020603050405020304" pitchFamily="18" charset="0"/>
                <a:cs typeface="Times New Roman" panose="02020603050405020304" pitchFamily="18" charset="0"/>
              </a:rPr>
              <a:t>           </a:t>
            </a:r>
            <a:r>
              <a:rPr lang="en-IN" sz="1800" kern="100" dirty="0">
                <a:solidFill>
                  <a:srgbClr val="000000"/>
                </a:solidFill>
                <a:effectLst/>
                <a:latin typeface="Times New Roman" panose="02020603050405020304" pitchFamily="18" charset="0"/>
                <a:ea typeface="Times New Roman" panose="02020603050405020304" pitchFamily="18" charset="0"/>
              </a:rPr>
              <a:t>Assistant Professor </a:t>
            </a:r>
          </a:p>
          <a:p>
            <a:pPr marL="6350" marR="1270" indent="-6350" algn="just">
              <a:lnSpc>
                <a:spcPct val="107000"/>
              </a:lnSpc>
              <a:spcAft>
                <a:spcPts val="570"/>
              </a:spcAft>
            </a:pPr>
            <a:r>
              <a:rPr lang="en-IN" sz="1800" kern="100" dirty="0">
                <a:solidFill>
                  <a:srgbClr val="000000"/>
                </a:solidFill>
                <a:effectLst/>
                <a:latin typeface="Times New Roman" panose="02020603050405020304" pitchFamily="18" charset="0"/>
                <a:ea typeface="Times New Roman" panose="02020603050405020304" pitchFamily="18" charset="0"/>
              </a:rPr>
              <a:t>           CSE(AIML) Department </a:t>
            </a:r>
          </a:p>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en-US"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CMRIT,</a:t>
            </a:r>
            <a:r>
              <a:rPr kumimoji="0" lang="en-US" b="0" i="0" u="none" strike="noStrike" kern="1200" cap="none" spc="0" normalizeH="0" noProof="0" dirty="0">
                <a:ln>
                  <a:noFill/>
                </a:ln>
                <a:solidFill>
                  <a:schemeClr val="tx1"/>
                </a:solidFill>
                <a:effectLst/>
                <a:uLnTx/>
                <a:uFillTx/>
                <a:latin typeface="Times New Roman" panose="02020603050405020304" pitchFamily="18" charset="0"/>
                <a:cs typeface="Times New Roman" panose="02020603050405020304" pitchFamily="18" charset="0"/>
              </a:rPr>
              <a:t> Hyderabad.</a:t>
            </a:r>
            <a:r>
              <a:rPr kumimoji="0" lang="en-US"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     </a:t>
            </a:r>
          </a:p>
        </p:txBody>
      </p:sp>
      <p:pic>
        <p:nvPicPr>
          <p:cNvPr id="6" name="Picture 5" descr="cropped-CMR-IT-logo-1.jpg"/>
          <p:cNvPicPr>
            <a:picLocks noChangeAspect="1"/>
          </p:cNvPicPr>
          <p:nvPr/>
        </p:nvPicPr>
        <p:blipFill>
          <a:blip r:embed="rId2"/>
          <a:stretch>
            <a:fillRect/>
          </a:stretch>
        </p:blipFill>
        <p:spPr>
          <a:xfrm>
            <a:off x="1143000" y="381000"/>
            <a:ext cx="6832600" cy="112214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8E0372-8697-1FDC-95BD-5B3AD0795C4D}"/>
              </a:ext>
            </a:extLst>
          </p:cNvPr>
          <p:cNvSpPr>
            <a:spLocks noGrp="1"/>
          </p:cNvSpPr>
          <p:nvPr>
            <p:ph type="title"/>
          </p:nvPr>
        </p:nvSpPr>
        <p:spPr/>
        <p:txBody>
          <a:bodyPr>
            <a:normAutofit/>
          </a:bodyPr>
          <a:lstStyle/>
          <a:p>
            <a:r>
              <a:rPr lang="en-US" sz="2400" dirty="0">
                <a:latin typeface="Times New Roman" panose="02020603050405020304" pitchFamily="18" charset="0"/>
                <a:cs typeface="Times New Roman" panose="02020603050405020304" pitchFamily="18" charset="0"/>
              </a:rPr>
              <a:t>INTRODUCTION</a:t>
            </a:r>
            <a:endParaRPr lang="en-IN" sz="2400" dirty="0"/>
          </a:p>
        </p:txBody>
      </p:sp>
      <p:sp>
        <p:nvSpPr>
          <p:cNvPr id="3" name="Content Placeholder 2">
            <a:extLst>
              <a:ext uri="{FF2B5EF4-FFF2-40B4-BE49-F238E27FC236}">
                <a16:creationId xmlns:a16="http://schemas.microsoft.com/office/drawing/2014/main" id="{4E7A6C7D-5230-48BB-A9A6-04BFC68A9F82}"/>
              </a:ext>
            </a:extLst>
          </p:cNvPr>
          <p:cNvSpPr>
            <a:spLocks noGrp="1"/>
          </p:cNvSpPr>
          <p:nvPr>
            <p:ph idx="1"/>
          </p:nvPr>
        </p:nvSpPr>
        <p:spPr>
          <a:xfrm>
            <a:off x="457200" y="1356996"/>
            <a:ext cx="8229600" cy="4525963"/>
          </a:xfrm>
        </p:spPr>
        <p:txBody>
          <a:bodyPr>
            <a:normAutofit/>
          </a:bodyPr>
          <a:lstStyle/>
          <a:p>
            <a:pPr marL="0" indent="0" algn="just">
              <a:buNone/>
            </a:pPr>
            <a:r>
              <a:rPr lang="en-US" sz="1800" dirty="0">
                <a:latin typeface="Times New Roman" panose="02020603050405020304" pitchFamily="18" charset="0"/>
                <a:cs typeface="Times New Roman" panose="02020603050405020304" pitchFamily="18" charset="0"/>
              </a:rPr>
              <a:t>Cybersecurity is more critical than ever as ransomware attacks become increasingly sophisticated, causing severe financial and operational damage across industries. Traditional anti-ransomware systems often fail to detect newly emerging threats, highlighting the need for more adaptive solutions. Machine learning offers a powerful, data-driven approach to ransomware detection by recognizing malicious </a:t>
            </a:r>
            <a:r>
              <a:rPr lang="en-US" sz="1800" dirty="0" err="1">
                <a:latin typeface="Times New Roman" panose="02020603050405020304" pitchFamily="18" charset="0"/>
                <a:cs typeface="Times New Roman" panose="02020603050405020304" pitchFamily="18" charset="0"/>
              </a:rPr>
              <a:t>behaviour</a:t>
            </a:r>
            <a:r>
              <a:rPr lang="en-US" sz="1800" dirty="0">
                <a:latin typeface="Times New Roman" panose="02020603050405020304" pitchFamily="18" charset="0"/>
                <a:cs typeface="Times New Roman" panose="02020603050405020304" pitchFamily="18" charset="0"/>
              </a:rPr>
              <a:t> — even when attack patterns are unfamiliar. </a:t>
            </a:r>
          </a:p>
          <a:p>
            <a:pPr marL="0" indent="0" algn="just">
              <a:buNone/>
            </a:pPr>
            <a:endParaRPr lang="en-US" sz="1800" dirty="0">
              <a:latin typeface="Times New Roman" panose="02020603050405020304" pitchFamily="18" charset="0"/>
              <a:cs typeface="Times New Roman" panose="02020603050405020304" pitchFamily="18" charset="0"/>
            </a:endParaRPr>
          </a:p>
          <a:p>
            <a:pPr marL="0" indent="0" algn="just">
              <a:buNone/>
            </a:pPr>
            <a:r>
              <a:rPr lang="en-US" sz="1800" dirty="0">
                <a:latin typeface="Times New Roman" panose="02020603050405020304" pitchFamily="18" charset="0"/>
                <a:cs typeface="Times New Roman" panose="02020603050405020304" pitchFamily="18" charset="0"/>
              </a:rPr>
              <a:t>Our study presents a comprehensive framework integrating feature selection with multiple machine learning algorithms, including Decision Tree, Random Forest, Naïve Bayes, Logistic Regression, and Neural Networks. Among these, Random Forest consistently delivers the highest accuracy, showcasing its strength as a reliable tool for ransomware classification and prevention. This approach enhances cybersecurity resilience, tackling evolving ransomware threats more effectively.</a:t>
            </a:r>
            <a:endParaRPr lang="en-IN" sz="1800" dirty="0">
              <a:latin typeface="Times New Roman" panose="02020603050405020304" pitchFamily="18" charset="0"/>
              <a:cs typeface="Times New Roman" panose="02020603050405020304" pitchFamily="18" charset="0"/>
            </a:endParaRPr>
          </a:p>
        </p:txBody>
      </p:sp>
      <p:pic>
        <p:nvPicPr>
          <p:cNvPr id="4" name="Picture 3" descr="cmrity.jpg">
            <a:extLst>
              <a:ext uri="{FF2B5EF4-FFF2-40B4-BE49-F238E27FC236}">
                <a16:creationId xmlns:a16="http://schemas.microsoft.com/office/drawing/2014/main" id="{7BB97258-BCB5-1C9D-D935-D15EBBD871EF}"/>
              </a:ext>
            </a:extLst>
          </p:cNvPr>
          <p:cNvPicPr>
            <a:picLocks noChangeAspect="1"/>
          </p:cNvPicPr>
          <p:nvPr/>
        </p:nvPicPr>
        <p:blipFill>
          <a:blip r:embed="rId2"/>
          <a:stretch>
            <a:fillRect/>
          </a:stretch>
        </p:blipFill>
        <p:spPr>
          <a:xfrm>
            <a:off x="7620000" y="152400"/>
            <a:ext cx="914400" cy="914400"/>
          </a:xfrm>
          <a:prstGeom prst="rect">
            <a:avLst/>
          </a:prstGeom>
        </p:spPr>
      </p:pic>
    </p:spTree>
    <p:extLst>
      <p:ext uri="{BB962C8B-B14F-4D97-AF65-F5344CB8AC3E}">
        <p14:creationId xmlns:p14="http://schemas.microsoft.com/office/powerpoint/2010/main" val="21178302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49262"/>
            <a:ext cx="8229600" cy="884238"/>
          </a:xfrm>
        </p:spPr>
        <p:txBody>
          <a:bodyPr>
            <a:normAutofit/>
          </a:bodyPr>
          <a:lstStyle/>
          <a:p>
            <a:r>
              <a:rPr lang="en-US" sz="2400" dirty="0">
                <a:latin typeface="Times New Roman" panose="02020603050405020304" pitchFamily="18" charset="0"/>
                <a:cs typeface="Times New Roman" panose="02020603050405020304" pitchFamily="18" charset="0"/>
              </a:rPr>
              <a:t>ABSTRACT</a:t>
            </a:r>
          </a:p>
        </p:txBody>
      </p:sp>
      <p:pic>
        <p:nvPicPr>
          <p:cNvPr id="4" name="Picture 3" descr="cmrity.jpg"/>
          <p:cNvPicPr>
            <a:picLocks noChangeAspect="1"/>
          </p:cNvPicPr>
          <p:nvPr/>
        </p:nvPicPr>
        <p:blipFill>
          <a:blip r:embed="rId2"/>
          <a:stretch>
            <a:fillRect/>
          </a:stretch>
        </p:blipFill>
        <p:spPr>
          <a:xfrm>
            <a:off x="7620000" y="152400"/>
            <a:ext cx="914400" cy="914400"/>
          </a:xfrm>
          <a:prstGeom prst="rect">
            <a:avLst/>
          </a:prstGeom>
        </p:spPr>
      </p:pic>
      <p:sp>
        <p:nvSpPr>
          <p:cNvPr id="6" name="Content Placeholder 5">
            <a:extLst>
              <a:ext uri="{FF2B5EF4-FFF2-40B4-BE49-F238E27FC236}">
                <a16:creationId xmlns:a16="http://schemas.microsoft.com/office/drawing/2014/main" id="{CC9FEACA-873A-42D8-F523-DE0248A14AD2}"/>
              </a:ext>
            </a:extLst>
          </p:cNvPr>
          <p:cNvSpPr>
            <a:spLocks noGrp="1"/>
          </p:cNvSpPr>
          <p:nvPr>
            <p:ph idx="1"/>
          </p:nvPr>
        </p:nvSpPr>
        <p:spPr>
          <a:xfrm>
            <a:off x="457200" y="1166018"/>
            <a:ext cx="8229600" cy="5242720"/>
          </a:xfrm>
        </p:spPr>
        <p:txBody>
          <a:bodyPr>
            <a:noAutofit/>
          </a:bodyPr>
          <a:lstStyle/>
          <a:p>
            <a:pPr marL="0" indent="0" algn="just">
              <a:buNone/>
            </a:pPr>
            <a:r>
              <a:rPr lang="en-US" sz="1800" dirty="0">
                <a:latin typeface="Times New Roman" panose="02020603050405020304" pitchFamily="18" charset="0"/>
                <a:cs typeface="Times New Roman" panose="02020603050405020304" pitchFamily="18" charset="0"/>
              </a:rPr>
              <a:t>Malicious attacks, malware, and ransomware pose serious security threats to computer systems, data centers, web, and mobile applications across various industries. These attacks can cause severe damage to businesses, leading to data breaches and financial losses. Traditional anti-ransomware systems often struggle to detect and prevent new, sophisticated attacks. </a:t>
            </a:r>
          </a:p>
          <a:p>
            <a:pPr marL="0" indent="0" algn="just">
              <a:buNone/>
            </a:pPr>
            <a:r>
              <a:rPr lang="en-US" sz="1800" dirty="0">
                <a:latin typeface="Times New Roman" panose="02020603050405020304" pitchFamily="18" charset="0"/>
                <a:cs typeface="Times New Roman" panose="02020603050405020304" pitchFamily="18" charset="0"/>
              </a:rPr>
              <a:t> </a:t>
            </a:r>
          </a:p>
          <a:p>
            <a:pPr marL="0" indent="0" algn="just">
              <a:buNone/>
            </a:pPr>
            <a:r>
              <a:rPr lang="en-US" sz="1800" dirty="0">
                <a:latin typeface="Times New Roman" panose="02020603050405020304" pitchFamily="18" charset="0"/>
                <a:cs typeface="Times New Roman" panose="02020603050405020304" pitchFamily="18" charset="0"/>
              </a:rPr>
              <a:t>To address this challenge, advanced techniques such as machine learning and neural network-based architectures can be used to develop more effective ransomware detection solutions. In this paper, we propose a feature selection-based framework that applies different machine learning algorithms, including neural networks, to classify security levels for ransomware detection and prevention.  </a:t>
            </a:r>
          </a:p>
          <a:p>
            <a:pPr marL="0" indent="0" algn="just">
              <a:buNone/>
            </a:pPr>
            <a:endParaRPr lang="en-US" sz="1800" dirty="0">
              <a:latin typeface="Times New Roman" panose="02020603050405020304" pitchFamily="18" charset="0"/>
              <a:cs typeface="Times New Roman" panose="02020603050405020304" pitchFamily="18" charset="0"/>
            </a:endParaRPr>
          </a:p>
          <a:p>
            <a:pPr marL="0" indent="0" algn="just">
              <a:buNone/>
            </a:pPr>
            <a:r>
              <a:rPr lang="en-US" sz="1800" dirty="0">
                <a:latin typeface="Times New Roman" panose="02020603050405020304" pitchFamily="18" charset="0"/>
                <a:cs typeface="Times New Roman" panose="02020603050405020304" pitchFamily="18" charset="0"/>
              </a:rPr>
              <a:t>We experimented with multiple machine learning models, including Decision Tree (DT), Random Forest (RF), Naïve Bayes (NB), Logistic Regression (LR), and Neural Networks (NN). Our experiments were conducted on a ransomware dataset to evaluate the effectiveness of our approach. The results show that the Random Forest classifier outperforms other models in terms of accuracy, F-beta, and precision scores.</a:t>
            </a:r>
            <a:endParaRPr lang="en-IN"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57200"/>
            <a:ext cx="8229600" cy="914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r>
              <a:rPr lang="en-IN" sz="2400" b="0" strike="noStrike" spc="-1" dirty="0">
                <a:solidFill>
                  <a:srgbClr val="000000"/>
                </a:solidFill>
                <a:latin typeface="Times New Roman" panose="02020603050405020304"/>
                <a:ea typeface="DejaVu Sans"/>
              </a:rPr>
              <a:t>LITERATURE SURVEY</a:t>
            </a:r>
            <a:endParaRPr lang="en-IN" sz="2400" b="0" strike="noStrike" spc="-1" dirty="0">
              <a:latin typeface="Arial" panose="020B0604020202020204"/>
            </a:endParaRPr>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4272775351"/>
              </p:ext>
            </p:extLst>
          </p:nvPr>
        </p:nvGraphicFramePr>
        <p:xfrm>
          <a:off x="157321" y="1388313"/>
          <a:ext cx="8829358" cy="5469684"/>
        </p:xfrm>
        <a:graphic>
          <a:graphicData uri="http://schemas.openxmlformats.org/drawingml/2006/table">
            <a:tbl>
              <a:tblPr firstRow="1" bandRow="1">
                <a:tableStyleId>{5940675A-B579-460E-94D1-54222C63F5DA}</a:tableStyleId>
              </a:tblPr>
              <a:tblGrid>
                <a:gridCol w="604679">
                  <a:extLst>
                    <a:ext uri="{9D8B030D-6E8A-4147-A177-3AD203B41FA5}">
                      <a16:colId xmlns:a16="http://schemas.microsoft.com/office/drawing/2014/main" val="20000"/>
                    </a:ext>
                  </a:extLst>
                </a:gridCol>
                <a:gridCol w="2138521">
                  <a:extLst>
                    <a:ext uri="{9D8B030D-6E8A-4147-A177-3AD203B41FA5}">
                      <a16:colId xmlns:a16="http://schemas.microsoft.com/office/drawing/2014/main" val="20001"/>
                    </a:ext>
                  </a:extLst>
                </a:gridCol>
                <a:gridCol w="1149341">
                  <a:extLst>
                    <a:ext uri="{9D8B030D-6E8A-4147-A177-3AD203B41FA5}">
                      <a16:colId xmlns:a16="http://schemas.microsoft.com/office/drawing/2014/main" val="20002"/>
                    </a:ext>
                  </a:extLst>
                </a:gridCol>
                <a:gridCol w="1452753">
                  <a:extLst>
                    <a:ext uri="{9D8B030D-6E8A-4147-A177-3AD203B41FA5}">
                      <a16:colId xmlns:a16="http://schemas.microsoft.com/office/drawing/2014/main" val="20003"/>
                    </a:ext>
                  </a:extLst>
                </a:gridCol>
                <a:gridCol w="1742032">
                  <a:extLst>
                    <a:ext uri="{9D8B030D-6E8A-4147-A177-3AD203B41FA5}">
                      <a16:colId xmlns:a16="http://schemas.microsoft.com/office/drawing/2014/main" val="20004"/>
                    </a:ext>
                  </a:extLst>
                </a:gridCol>
                <a:gridCol w="1742032">
                  <a:extLst>
                    <a:ext uri="{9D8B030D-6E8A-4147-A177-3AD203B41FA5}">
                      <a16:colId xmlns:a16="http://schemas.microsoft.com/office/drawing/2014/main" val="20005"/>
                    </a:ext>
                  </a:extLst>
                </a:gridCol>
              </a:tblGrid>
              <a:tr h="722411">
                <a:tc>
                  <a:txBody>
                    <a:bodyPr/>
                    <a:lstStyle/>
                    <a:p>
                      <a:pPr algn="l"/>
                      <a:r>
                        <a:rPr lang="en-US" sz="1200" b="1" dirty="0">
                          <a:latin typeface="Times New Roman" panose="02020603050405020304" pitchFamily="18" charset="0"/>
                          <a:cs typeface="Times New Roman" panose="02020603050405020304" pitchFamily="18" charset="0"/>
                        </a:rPr>
                        <a:t>S.NO</a:t>
                      </a:r>
                    </a:p>
                  </a:txBody>
                  <a:tcPr/>
                </a:tc>
                <a:tc>
                  <a:txBody>
                    <a:bodyPr/>
                    <a:lstStyle/>
                    <a:p>
                      <a:pPr algn="ctr"/>
                      <a:r>
                        <a:rPr lang="en-US" sz="1200" b="1" dirty="0">
                          <a:latin typeface="Times New Roman" panose="02020603050405020304" pitchFamily="18" charset="0"/>
                          <a:cs typeface="Times New Roman" panose="02020603050405020304" pitchFamily="18" charset="0"/>
                        </a:rPr>
                        <a:t>Title of the Paper</a:t>
                      </a:r>
                    </a:p>
                  </a:txBody>
                  <a:tcPr/>
                </a:tc>
                <a:tc>
                  <a:txBody>
                    <a:bodyPr/>
                    <a:lstStyle/>
                    <a:p>
                      <a:pPr algn="ctr"/>
                      <a:r>
                        <a:rPr lang="en-US" sz="1200" b="1" dirty="0">
                          <a:latin typeface="Times New Roman" panose="02020603050405020304" pitchFamily="18" charset="0"/>
                          <a:cs typeface="Times New Roman" panose="02020603050405020304" pitchFamily="18" charset="0"/>
                        </a:rPr>
                        <a:t>Publication and Year</a:t>
                      </a:r>
                    </a:p>
                  </a:txBody>
                  <a:tcPr/>
                </a:tc>
                <a:tc>
                  <a:txBody>
                    <a:bodyPr/>
                    <a:lstStyle/>
                    <a:p>
                      <a:pPr algn="ctr"/>
                      <a:r>
                        <a:rPr lang="en-US" sz="1200" b="1" dirty="0">
                          <a:latin typeface="Times New Roman" panose="02020603050405020304" pitchFamily="18" charset="0"/>
                          <a:cs typeface="Times New Roman" panose="02020603050405020304" pitchFamily="18" charset="0"/>
                        </a:rPr>
                        <a:t>Author</a:t>
                      </a:r>
                    </a:p>
                  </a:txBody>
                  <a:tcPr/>
                </a:tc>
                <a:tc>
                  <a:txBody>
                    <a:bodyPr/>
                    <a:lstStyle/>
                    <a:p>
                      <a:pPr algn="ctr"/>
                      <a:r>
                        <a:rPr lang="en-US" sz="1200" b="1" dirty="0">
                          <a:latin typeface="Times New Roman" panose="02020603050405020304" pitchFamily="18" charset="0"/>
                          <a:cs typeface="Times New Roman" panose="02020603050405020304" pitchFamily="18" charset="0"/>
                        </a:rPr>
                        <a:t>Methodology </a:t>
                      </a:r>
                    </a:p>
                    <a:p>
                      <a:pPr algn="ctr"/>
                      <a:r>
                        <a:rPr lang="en-US" sz="1200" b="1" dirty="0">
                          <a:latin typeface="Times New Roman" panose="02020603050405020304" pitchFamily="18" charset="0"/>
                          <a:cs typeface="Times New Roman" panose="02020603050405020304" pitchFamily="18" charset="0"/>
                        </a:rPr>
                        <a:t>or </a:t>
                      </a:r>
                    </a:p>
                    <a:p>
                      <a:pPr algn="ctr"/>
                      <a:r>
                        <a:rPr lang="en-US" sz="1200" b="1" dirty="0">
                          <a:latin typeface="Times New Roman" panose="02020603050405020304" pitchFamily="18" charset="0"/>
                          <a:cs typeface="Times New Roman" panose="02020603050405020304" pitchFamily="18" charset="0"/>
                        </a:rPr>
                        <a:t>Algorithm</a:t>
                      </a:r>
                    </a:p>
                  </a:txBody>
                  <a:tcPr/>
                </a:tc>
                <a:tc>
                  <a:txBody>
                    <a:bodyPr/>
                    <a:lstStyle/>
                    <a:p>
                      <a:pPr algn="ctr"/>
                      <a:r>
                        <a:rPr lang="en-US" sz="1200" b="1" dirty="0">
                          <a:latin typeface="Times New Roman" panose="02020603050405020304" pitchFamily="18" charset="0"/>
                          <a:cs typeface="Times New Roman" panose="02020603050405020304" pitchFamily="18" charset="0"/>
                        </a:rPr>
                        <a:t>Inference</a:t>
                      </a:r>
                    </a:p>
                  </a:txBody>
                  <a:tcPr/>
                </a:tc>
                <a:extLst>
                  <a:ext uri="{0D108BD9-81ED-4DB2-BD59-A6C34878D82A}">
                    <a16:rowId xmlns:a16="http://schemas.microsoft.com/office/drawing/2014/main" val="10000"/>
                  </a:ext>
                </a:extLst>
              </a:tr>
              <a:tr h="928815">
                <a:tc>
                  <a:txBody>
                    <a:bodyPr/>
                    <a:lstStyle/>
                    <a:p>
                      <a:pPr algn="ctr"/>
                      <a:r>
                        <a:rPr lang="en-US" sz="1200" dirty="0">
                          <a:latin typeface="Times New Roman" panose="02020603050405020304" pitchFamily="18" charset="0"/>
                          <a:cs typeface="Times New Roman" panose="02020603050405020304" pitchFamily="18" charset="0"/>
                        </a:rPr>
                        <a:t>1</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sz="1200" dirty="0"/>
                        <a:t>Detecting a ransomware attack using </a:t>
                      </a:r>
                      <a:r>
                        <a:rPr lang="en-US" sz="1200" dirty="0" err="1"/>
                        <a:t>Cryptowall</a:t>
                      </a:r>
                      <a:r>
                        <a:rPr lang="en-US" sz="1200" dirty="0"/>
                        <a:t>.</a:t>
                      </a:r>
                      <a:endParaRPr lang="en-US" sz="1200" dirty="0">
                        <a:latin typeface="Times New Roman" panose="02020603050405020304" pitchFamily="18" charset="0"/>
                        <a:cs typeface="Times New Roman" panose="020206030504050203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IN" sz="1200" dirty="0"/>
                        <a:t>Big Data </a:t>
                      </a:r>
                      <a:r>
                        <a:rPr lang="en-IN" sz="1200" dirty="0" err="1"/>
                        <a:t>Cogn</a:t>
                      </a:r>
                      <a:r>
                        <a:rPr lang="en-IN" sz="1200" dirty="0"/>
                        <a:t>. </a:t>
                      </a:r>
                      <a:r>
                        <a:rPr lang="en-IN" sz="1200" dirty="0" err="1"/>
                        <a:t>Comput</a:t>
                      </a:r>
                      <a:r>
                        <a:rPr lang="en-IN" sz="1200" dirty="0"/>
                        <a:t>, 2023</a:t>
                      </a:r>
                    </a:p>
                    <a:p>
                      <a:pPr marL="0" marR="0" indent="0" algn="l" defTabSz="914400" rtl="0" eaLnBrk="1" fontAlgn="auto" latinLnBrk="0" hangingPunct="1">
                        <a:lnSpc>
                          <a:spcPct val="100000"/>
                        </a:lnSpc>
                        <a:spcBef>
                          <a:spcPts val="0"/>
                        </a:spcBef>
                        <a:spcAft>
                          <a:spcPts val="0"/>
                        </a:spcAft>
                        <a:buClrTx/>
                        <a:buSzTx/>
                        <a:buFontTx/>
                        <a:buNone/>
                        <a:defRPr/>
                      </a:pPr>
                      <a:endParaRPr lang="en-US" sz="1200" dirty="0">
                        <a:latin typeface="Times New Roman" panose="02020603050405020304" pitchFamily="18" charset="0"/>
                        <a:cs typeface="Times New Roman" panose="02020603050405020304" pitchFamily="18" charset="0"/>
                      </a:endParaRPr>
                    </a:p>
                  </a:txBody>
                  <a:tcPr/>
                </a:tc>
                <a:tc>
                  <a:txBody>
                    <a:bodyPr/>
                    <a:lstStyle/>
                    <a:p>
                      <a:pPr algn="l"/>
                      <a:r>
                        <a:rPr lang="en-IN" sz="1200" dirty="0"/>
                        <a:t>Zahra and Sha </a:t>
                      </a:r>
                      <a:endParaRPr lang="en-US" sz="1200" dirty="0">
                        <a:latin typeface="Times New Roman" panose="02020603050405020304" pitchFamily="18" charset="0"/>
                        <a:cs typeface="Times New Roman" panose="020206030504050203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sz="1200" dirty="0"/>
                        <a:t>Blocklisting of command-</a:t>
                      </a:r>
                      <a:r>
                        <a:rPr lang="en-US" sz="1200" dirty="0" err="1"/>
                        <a:t>andcontrol</a:t>
                      </a:r>
                      <a:r>
                        <a:rPr lang="en-US" sz="1200" dirty="0"/>
                        <a:t> (C&amp;C) servers.</a:t>
                      </a:r>
                      <a:endParaRPr lang="en-US" sz="1200" dirty="0">
                        <a:latin typeface="Times New Roman" panose="02020603050405020304" pitchFamily="18" charset="0"/>
                        <a:cs typeface="Times New Roman" panose="020206030504050203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sz="1200" dirty="0"/>
                        <a:t>The web proxy server, which acts as the TCP/IP traffic gateway, extracts the TCP/IP header</a:t>
                      </a:r>
                      <a:endParaRPr lang="en-US"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722411">
                <a:tc>
                  <a:txBody>
                    <a:bodyPr/>
                    <a:lstStyle/>
                    <a:p>
                      <a:pPr algn="ctr"/>
                      <a:r>
                        <a:rPr lang="en-US" sz="1200" dirty="0">
                          <a:latin typeface="Times New Roman" panose="02020603050405020304" pitchFamily="18" charset="0"/>
                          <a:cs typeface="Times New Roman" panose="02020603050405020304" pitchFamily="18" charset="0"/>
                        </a:rPr>
                        <a:t>2</a:t>
                      </a:r>
                    </a:p>
                  </a:txBody>
                  <a:tcPr/>
                </a:tc>
                <a:tc>
                  <a:txBody>
                    <a:bodyPr/>
                    <a:lstStyle/>
                    <a:p>
                      <a:pPr algn="l"/>
                      <a:r>
                        <a:rPr lang="en-IN" sz="1200" dirty="0"/>
                        <a:t>Detection of ransomware.</a:t>
                      </a:r>
                      <a:endParaRPr lang="en-US" sz="12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dirty="0"/>
                        <a:t>Big Data </a:t>
                      </a:r>
                      <a:r>
                        <a:rPr lang="en-IN" sz="1200" dirty="0" err="1"/>
                        <a:t>Cogn</a:t>
                      </a:r>
                      <a:r>
                        <a:rPr lang="en-IN" sz="1200" dirty="0"/>
                        <a:t>. </a:t>
                      </a:r>
                      <a:r>
                        <a:rPr lang="en-IN" sz="1200" dirty="0" err="1"/>
                        <a:t>Comput</a:t>
                      </a:r>
                      <a:r>
                        <a:rPr lang="en-IN" sz="1200" dirty="0"/>
                        <a:t>, 2023</a:t>
                      </a:r>
                    </a:p>
                    <a:p>
                      <a:pPr algn="l"/>
                      <a:endParaRPr lang="en-US" sz="1200" dirty="0">
                        <a:latin typeface="Times New Roman" panose="02020603050405020304" pitchFamily="18" charset="0"/>
                        <a:cs typeface="Times New Roman" panose="02020603050405020304" pitchFamily="18" charset="0"/>
                      </a:endParaRPr>
                    </a:p>
                  </a:txBody>
                  <a:tcPr/>
                </a:tc>
                <a:tc>
                  <a:txBody>
                    <a:bodyPr/>
                    <a:lstStyle/>
                    <a:p>
                      <a:pPr algn="l"/>
                      <a:r>
                        <a:rPr lang="en-IN" sz="1200" dirty="0"/>
                        <a:t>Shaukat and Ribeiro</a:t>
                      </a:r>
                      <a:endParaRPr lang="en-US" sz="1200" dirty="0">
                        <a:latin typeface="Times New Roman" panose="02020603050405020304" pitchFamily="18" charset="0"/>
                        <a:cs typeface="Times New Roman" panose="02020603050405020304" pitchFamily="18" charset="0"/>
                      </a:endParaRPr>
                    </a:p>
                  </a:txBody>
                  <a:tcPr/>
                </a:tc>
                <a:tc>
                  <a:txBody>
                    <a:bodyPr/>
                    <a:lstStyle/>
                    <a:p>
                      <a:pPr algn="l"/>
                      <a:r>
                        <a:rPr lang="en-US" sz="1200" dirty="0" err="1"/>
                        <a:t>RansomWall</a:t>
                      </a:r>
                      <a:r>
                        <a:rPr lang="en-US" sz="1200" dirty="0"/>
                        <a:t>, a layered and hybrid mechanism. </a:t>
                      </a:r>
                      <a:endParaRPr lang="en-US" sz="1200" dirty="0">
                        <a:latin typeface="Times New Roman" panose="02020603050405020304" pitchFamily="18" charset="0"/>
                        <a:cs typeface="Times New Roman" panose="02020603050405020304" pitchFamily="18" charset="0"/>
                      </a:endParaRPr>
                    </a:p>
                  </a:txBody>
                  <a:tcPr/>
                </a:tc>
                <a:tc>
                  <a:txBody>
                    <a:bodyPr/>
                    <a:lstStyle/>
                    <a:p>
                      <a:pPr algn="l"/>
                      <a:r>
                        <a:rPr lang="en-US" sz="1200" dirty="0"/>
                        <a:t>Effective at identifying zero-day attacks</a:t>
                      </a:r>
                      <a:endParaRPr lang="en-US"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r h="722411">
                <a:tc>
                  <a:txBody>
                    <a:bodyPr/>
                    <a:lstStyle/>
                    <a:p>
                      <a:pPr algn="ctr"/>
                      <a:r>
                        <a:rPr lang="en-US" sz="1200" dirty="0">
                          <a:latin typeface="Times New Roman" panose="02020603050405020304" pitchFamily="18" charset="0"/>
                          <a:cs typeface="Times New Roman" panose="02020603050405020304" pitchFamily="18" charset="0"/>
                        </a:rPr>
                        <a:t>3</a:t>
                      </a:r>
                    </a:p>
                  </a:txBody>
                  <a:tcPr/>
                </a:tc>
                <a:tc>
                  <a:txBody>
                    <a:bodyPr/>
                    <a:lstStyle/>
                    <a:p>
                      <a:pPr algn="l"/>
                      <a:r>
                        <a:rPr lang="en-US" sz="1200" dirty="0"/>
                        <a:t>Determine whether an actual network system is vulnerable to a ransomware assault. </a:t>
                      </a:r>
                      <a:endParaRPr lang="en-US" sz="12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dirty="0"/>
                        <a:t>Big Data </a:t>
                      </a:r>
                      <a:r>
                        <a:rPr lang="en-IN" sz="1200" dirty="0" err="1"/>
                        <a:t>Cogn</a:t>
                      </a:r>
                      <a:r>
                        <a:rPr lang="en-IN" sz="1200" dirty="0"/>
                        <a:t>. </a:t>
                      </a:r>
                      <a:r>
                        <a:rPr lang="en-IN" sz="1200" dirty="0" err="1"/>
                        <a:t>Comput</a:t>
                      </a:r>
                      <a:r>
                        <a:rPr lang="en-IN" sz="1200" dirty="0"/>
                        <a:t>, 2023</a:t>
                      </a:r>
                    </a:p>
                    <a:p>
                      <a:pPr algn="l"/>
                      <a:endParaRPr lang="en-US" sz="1200" dirty="0">
                        <a:latin typeface="Times New Roman" panose="02020603050405020304" pitchFamily="18" charset="0"/>
                        <a:cs typeface="Times New Roman" panose="02020603050405020304" pitchFamily="18" charset="0"/>
                      </a:endParaRPr>
                    </a:p>
                  </a:txBody>
                  <a:tcPr/>
                </a:tc>
                <a:tc>
                  <a:txBody>
                    <a:bodyPr/>
                    <a:lstStyle/>
                    <a:p>
                      <a:pPr algn="l"/>
                      <a:r>
                        <a:rPr lang="en-IN" sz="1200" dirty="0" err="1"/>
                        <a:t>Makinde</a:t>
                      </a:r>
                      <a:r>
                        <a:rPr lang="en-IN" sz="1200" dirty="0"/>
                        <a:t> et al.</a:t>
                      </a:r>
                      <a:endParaRPr lang="en-US" sz="1200" dirty="0">
                        <a:latin typeface="Times New Roman" panose="02020603050405020304" pitchFamily="18" charset="0"/>
                        <a:cs typeface="Times New Roman" panose="02020603050405020304" pitchFamily="18" charset="0"/>
                      </a:endParaRPr>
                    </a:p>
                  </a:txBody>
                  <a:tcPr/>
                </a:tc>
                <a:tc>
                  <a:txBody>
                    <a:bodyPr/>
                    <a:lstStyle/>
                    <a:p>
                      <a:pPr algn="l"/>
                      <a:r>
                        <a:rPr lang="en-IN" sz="1200" dirty="0"/>
                        <a:t>Learning machines.</a:t>
                      </a:r>
                      <a:endParaRPr lang="en-US" sz="1200" dirty="0">
                        <a:latin typeface="Times New Roman" panose="02020603050405020304" pitchFamily="18" charset="0"/>
                        <a:cs typeface="Times New Roman" panose="02020603050405020304" pitchFamily="18" charset="0"/>
                      </a:endParaRPr>
                    </a:p>
                  </a:txBody>
                  <a:tcPr/>
                </a:tc>
                <a:tc>
                  <a:txBody>
                    <a:bodyPr/>
                    <a:lstStyle/>
                    <a:p>
                      <a:pPr algn="l"/>
                      <a:r>
                        <a:rPr lang="en-IN" sz="1200" dirty="0"/>
                        <a:t>Correlation greater than 0.8</a:t>
                      </a:r>
                      <a:endParaRPr lang="en-US"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3"/>
                  </a:ext>
                </a:extLst>
              </a:tr>
              <a:tr h="928815">
                <a:tc>
                  <a:txBody>
                    <a:bodyPr/>
                    <a:lstStyle/>
                    <a:p>
                      <a:pPr algn="ctr"/>
                      <a:r>
                        <a:rPr lang="en-US" sz="1200" dirty="0">
                          <a:latin typeface="Times New Roman" panose="02020603050405020304" pitchFamily="18" charset="0"/>
                          <a:cs typeface="Times New Roman" panose="02020603050405020304" pitchFamily="18" charset="0"/>
                        </a:rPr>
                        <a:t>4</a:t>
                      </a:r>
                    </a:p>
                  </a:txBody>
                  <a:tcPr/>
                </a:tc>
                <a:tc>
                  <a:txBody>
                    <a:bodyPr/>
                    <a:lstStyle/>
                    <a:p>
                      <a:pPr algn="l"/>
                      <a:r>
                        <a:rPr lang="en-IN" sz="1200" dirty="0"/>
                        <a:t>Differentiating Locky ransomware users. </a:t>
                      </a:r>
                      <a:endParaRPr lang="en-US" sz="12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dirty="0"/>
                        <a:t>Big Data </a:t>
                      </a:r>
                      <a:r>
                        <a:rPr lang="en-IN" sz="1200" dirty="0" err="1"/>
                        <a:t>Cogn</a:t>
                      </a:r>
                      <a:r>
                        <a:rPr lang="en-IN" sz="1200" dirty="0"/>
                        <a:t>. </a:t>
                      </a:r>
                      <a:r>
                        <a:rPr lang="en-IN" sz="1200" dirty="0" err="1"/>
                        <a:t>Comput</a:t>
                      </a:r>
                      <a:r>
                        <a:rPr lang="en-IN" sz="1200" dirty="0"/>
                        <a:t>, 2023</a:t>
                      </a:r>
                    </a:p>
                    <a:p>
                      <a:pPr algn="l"/>
                      <a:endParaRPr lang="en-US" sz="1200" dirty="0">
                        <a:latin typeface="Times New Roman" panose="02020603050405020304" pitchFamily="18" charset="0"/>
                        <a:cs typeface="Times New Roman" panose="02020603050405020304" pitchFamily="18" charset="0"/>
                      </a:endParaRPr>
                    </a:p>
                  </a:txBody>
                  <a:tcPr/>
                </a:tc>
                <a:tc>
                  <a:txBody>
                    <a:bodyPr/>
                    <a:lstStyle/>
                    <a:p>
                      <a:pPr algn="l"/>
                      <a:r>
                        <a:rPr lang="en-IN" sz="1200" dirty="0"/>
                        <a:t>Ahmad et al.</a:t>
                      </a:r>
                      <a:endParaRPr lang="en-US" sz="1200" dirty="0">
                        <a:latin typeface="Times New Roman" panose="02020603050405020304" pitchFamily="18" charset="0"/>
                        <a:cs typeface="Times New Roman" panose="02020603050405020304" pitchFamily="18" charset="0"/>
                      </a:endParaRPr>
                    </a:p>
                  </a:txBody>
                  <a:tcPr/>
                </a:tc>
                <a:tc>
                  <a:txBody>
                    <a:bodyPr/>
                    <a:lstStyle/>
                    <a:p>
                      <a:pPr algn="l"/>
                      <a:r>
                        <a:rPr lang="en-US" sz="1200" dirty="0"/>
                        <a:t>Utilizing parallel classifiers, a behavioral approach to ransomware detection.</a:t>
                      </a:r>
                      <a:endParaRPr lang="en-US" sz="1200" dirty="0">
                        <a:latin typeface="Times New Roman" panose="02020603050405020304" pitchFamily="18" charset="0"/>
                        <a:cs typeface="Times New Roman" panose="02020603050405020304" pitchFamily="18" charset="0"/>
                      </a:endParaRPr>
                    </a:p>
                  </a:txBody>
                  <a:tcPr/>
                </a:tc>
                <a:tc>
                  <a:txBody>
                    <a:bodyPr/>
                    <a:lstStyle/>
                    <a:p>
                      <a:pPr algn="l"/>
                      <a:r>
                        <a:rPr lang="en-US" sz="1200" dirty="0"/>
                        <a:t>Highly reliable detection with a low proportion of false positives. </a:t>
                      </a:r>
                      <a:endParaRPr lang="en-US"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4"/>
                  </a:ext>
                </a:extLst>
              </a:tr>
              <a:tr h="1135216">
                <a:tc>
                  <a:txBody>
                    <a:bodyPr/>
                    <a:lstStyle/>
                    <a:p>
                      <a:pPr algn="ctr"/>
                      <a:r>
                        <a:rPr lang="en-US" sz="1200" dirty="0">
                          <a:latin typeface="Times New Roman" panose="02020603050405020304" pitchFamily="18" charset="0"/>
                          <a:cs typeface="Times New Roman" panose="02020603050405020304" pitchFamily="18" charset="0"/>
                        </a:rPr>
                        <a:t>5</a:t>
                      </a:r>
                    </a:p>
                  </a:txBody>
                  <a:tcPr/>
                </a:tc>
                <a:tc>
                  <a:txBody>
                    <a:bodyPr/>
                    <a:lstStyle/>
                    <a:p>
                      <a:pPr algn="l"/>
                      <a:r>
                        <a:rPr lang="en-US" sz="1200" dirty="0"/>
                        <a:t>Discovery of new ransomware families and classification of newly discovered ransomware assaults. </a:t>
                      </a:r>
                      <a:endParaRPr lang="en-US" sz="12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dirty="0"/>
                        <a:t>Big Data </a:t>
                      </a:r>
                      <a:r>
                        <a:rPr lang="en-IN" sz="1200" dirty="0" err="1"/>
                        <a:t>Cogn</a:t>
                      </a:r>
                      <a:r>
                        <a:rPr lang="en-IN" sz="1200" dirty="0"/>
                        <a:t>. </a:t>
                      </a:r>
                      <a:r>
                        <a:rPr lang="en-IN" sz="1200" dirty="0" err="1"/>
                        <a:t>Comput</a:t>
                      </a:r>
                      <a:r>
                        <a:rPr lang="en-IN" sz="1200" dirty="0"/>
                        <a:t>, 2023</a:t>
                      </a:r>
                    </a:p>
                    <a:p>
                      <a:pPr algn="l"/>
                      <a:endParaRPr lang="en-US" sz="1200" dirty="0">
                        <a:latin typeface="Times New Roman" panose="02020603050405020304" pitchFamily="18" charset="0"/>
                        <a:cs typeface="Times New Roman" panose="02020603050405020304" pitchFamily="18" charset="0"/>
                      </a:endParaRPr>
                    </a:p>
                  </a:txBody>
                  <a:tcPr/>
                </a:tc>
                <a:tc>
                  <a:txBody>
                    <a:bodyPr/>
                    <a:lstStyle/>
                    <a:p>
                      <a:pPr algn="l"/>
                      <a:r>
                        <a:rPr lang="en-IN" sz="1200" dirty="0"/>
                        <a:t>Singh et al.</a:t>
                      </a:r>
                      <a:endParaRPr lang="en-US" sz="1200" dirty="0">
                        <a:latin typeface="Times New Roman" panose="02020603050405020304" pitchFamily="18" charset="0"/>
                        <a:cs typeface="Times New Roman" panose="02020603050405020304" pitchFamily="18" charset="0"/>
                      </a:endParaRPr>
                    </a:p>
                  </a:txBody>
                  <a:tcPr/>
                </a:tc>
                <a:tc>
                  <a:txBody>
                    <a:bodyPr/>
                    <a:lstStyle/>
                    <a:p>
                      <a:pPr algn="l"/>
                      <a:r>
                        <a:rPr lang="en-US" sz="1200" dirty="0"/>
                        <a:t>Checks process memory access privileges to enable rapid and accurate malware detection.</a:t>
                      </a:r>
                      <a:endParaRPr lang="en-US" sz="1200" dirty="0">
                        <a:latin typeface="Times New Roman" panose="02020603050405020304" pitchFamily="18" charset="0"/>
                        <a:cs typeface="Times New Roman" panose="02020603050405020304" pitchFamily="18" charset="0"/>
                      </a:endParaRPr>
                    </a:p>
                  </a:txBody>
                  <a:tcPr/>
                </a:tc>
                <a:tc>
                  <a:txBody>
                    <a:bodyPr/>
                    <a:lstStyle/>
                    <a:p>
                      <a:pPr algn="l"/>
                      <a:r>
                        <a:rPr lang="en-US" sz="1200" dirty="0"/>
                        <a:t>Between 81.38% and 96.28% accuracy</a:t>
                      </a:r>
                      <a:endParaRPr lang="en-US"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5"/>
                  </a:ext>
                </a:extLst>
              </a:tr>
              <a:tr h="309605">
                <a:tc>
                  <a:txBody>
                    <a:bodyPr/>
                    <a:lstStyle/>
                    <a:p>
                      <a:pPr algn="ctr"/>
                      <a:endParaRPr lang="en-US" sz="1200" dirty="0">
                        <a:latin typeface="Times New Roman" panose="02020603050405020304" pitchFamily="18" charset="0"/>
                        <a:cs typeface="Times New Roman" panose="02020603050405020304" pitchFamily="18" charset="0"/>
                      </a:endParaRPr>
                    </a:p>
                  </a:txBody>
                  <a:tcPr>
                    <a:lnR w="12700" cmpd="sng">
                      <a:noFill/>
                    </a:lnR>
                  </a:tcPr>
                </a:tc>
                <a:tc gridSpan="5">
                  <a:txBody>
                    <a:bodyPr/>
                    <a:lstStyle/>
                    <a:p>
                      <a:endParaRPr lang="en-US" sz="1200" dirty="0">
                        <a:latin typeface="Times New Roman" panose="02020603050405020304" pitchFamily="18" charset="0"/>
                        <a:cs typeface="Times New Roman" panose="02020603050405020304" pitchFamily="18" charset="0"/>
                      </a:endParaRPr>
                    </a:p>
                  </a:txBody>
                  <a:tcPr>
                    <a:lnL w="12700" cmpd="sng">
                      <a:noFill/>
                    </a:lnL>
                  </a:tcPr>
                </a:tc>
                <a:tc hMerge="1">
                  <a:txBody>
                    <a:bodyPr/>
                    <a:lstStyle/>
                    <a:p>
                      <a:endParaRPr lang="en-US" sz="1200" dirty="0">
                        <a:latin typeface="Times New Roman" panose="02020603050405020304" pitchFamily="18" charset="0"/>
                        <a:cs typeface="Times New Roman" panose="02020603050405020304" pitchFamily="18" charset="0"/>
                      </a:endParaRPr>
                    </a:p>
                  </a:txBody>
                  <a:tcPr/>
                </a:tc>
                <a:tc hMerge="1">
                  <a:txBody>
                    <a:bodyPr/>
                    <a:lstStyle/>
                    <a:p>
                      <a:endParaRPr lang="en-US" sz="1200" dirty="0">
                        <a:latin typeface="Times New Roman" panose="02020603050405020304" pitchFamily="18" charset="0"/>
                        <a:cs typeface="Times New Roman" panose="02020603050405020304" pitchFamily="18" charset="0"/>
                      </a:endParaRPr>
                    </a:p>
                  </a:txBody>
                  <a:tcPr/>
                </a:tc>
                <a:tc hMerge="1">
                  <a:txBody>
                    <a:bodyPr/>
                    <a:lstStyle/>
                    <a:p>
                      <a:endParaRPr lang="en-US" sz="1200" dirty="0">
                        <a:latin typeface="Times New Roman" panose="02020603050405020304" pitchFamily="18" charset="0"/>
                        <a:cs typeface="Times New Roman" panose="02020603050405020304" pitchFamily="18" charset="0"/>
                      </a:endParaRPr>
                    </a:p>
                  </a:txBody>
                  <a:tcPr/>
                </a:tc>
                <a:tc hMerge="1">
                  <a:txBody>
                    <a:bodyPr/>
                    <a:lstStyle/>
                    <a:p>
                      <a:endParaRPr lang="en-US"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6"/>
                  </a:ext>
                </a:extLst>
              </a:tr>
            </a:tbl>
          </a:graphicData>
        </a:graphic>
      </p:graphicFrame>
      <p:pic>
        <p:nvPicPr>
          <p:cNvPr id="5" name="Picture 4" descr="cmrity.jpg"/>
          <p:cNvPicPr>
            <a:picLocks noChangeAspect="1"/>
          </p:cNvPicPr>
          <p:nvPr/>
        </p:nvPicPr>
        <p:blipFill>
          <a:blip r:embed="rId2"/>
          <a:stretch>
            <a:fillRect/>
          </a:stretch>
        </p:blipFill>
        <p:spPr>
          <a:xfrm>
            <a:off x="7620000" y="152400"/>
            <a:ext cx="914400" cy="9144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7371" y="792162"/>
            <a:ext cx="8229600" cy="579438"/>
          </a:xfrm>
        </p:spPr>
        <p:txBody>
          <a:bodyPr>
            <a:normAutofit fontScale="90000"/>
          </a:bodyPr>
          <a:lstStyle/>
          <a:p>
            <a:r>
              <a:rPr lang="en-IN" sz="2700" strike="noStrike" spc="-1" dirty="0">
                <a:solidFill>
                  <a:srgbClr val="000000"/>
                </a:solidFill>
                <a:latin typeface="Times New Roman" panose="02020603050405020304" pitchFamily="18" charset="0"/>
                <a:ea typeface="DejaVu Sans"/>
                <a:cs typeface="Times New Roman" panose="02020603050405020304" pitchFamily="18" charset="0"/>
              </a:rPr>
              <a:t>PROBLEM STATEMENT</a:t>
            </a:r>
            <a:br>
              <a:rPr lang="en-IN" b="0" strike="noStrike" spc="-1" dirty="0">
                <a:latin typeface="Arial" panose="020B0604020202020204"/>
              </a:rPr>
            </a:br>
            <a:endParaRPr lang="en-US" dirty="0"/>
          </a:p>
        </p:txBody>
      </p:sp>
      <p:sp>
        <p:nvSpPr>
          <p:cNvPr id="3" name="Content Placeholder 2"/>
          <p:cNvSpPr>
            <a:spLocks noGrp="1"/>
          </p:cNvSpPr>
          <p:nvPr>
            <p:ph idx="1"/>
          </p:nvPr>
        </p:nvSpPr>
        <p:spPr>
          <a:xfrm>
            <a:off x="457200" y="947907"/>
            <a:ext cx="8229600" cy="4962186"/>
          </a:xfrm>
        </p:spPr>
        <p:txBody>
          <a:bodyPr>
            <a:normAutofit fontScale="32500" lnSpcReduction="20000"/>
          </a:bodyPr>
          <a:lstStyle/>
          <a:p>
            <a:pPr marL="0" indent="0">
              <a:buNone/>
            </a:pPr>
            <a:endParaRPr lang="en-US" dirty="0">
              <a:latin typeface="Times New Roman" panose="02020603050405020304" pitchFamily="18" charset="0"/>
              <a:cs typeface="Times New Roman" panose="02020603050405020304" pitchFamily="18" charset="0"/>
            </a:endParaRPr>
          </a:p>
          <a:p>
            <a:pPr marL="0" indent="0" algn="just">
              <a:buNone/>
            </a:pPr>
            <a:r>
              <a:rPr lang="en-US" sz="5500" dirty="0">
                <a:latin typeface="Times New Roman" panose="02020603050405020304" pitchFamily="18" charset="0"/>
                <a:cs typeface="Times New Roman" panose="02020603050405020304" pitchFamily="18" charset="0"/>
              </a:rPr>
              <a:t>Current ransomware detection systems primarily rely on signature-based methods, which are effective for known threats but fail to detect newly emerging, sophisticated ransomware variants. Manual analysis of suspicious binaries is also time-consuming and prone to human error.</a:t>
            </a:r>
          </a:p>
          <a:p>
            <a:pPr marL="0" indent="0" algn="just">
              <a:buNone/>
            </a:pPr>
            <a:endParaRPr lang="en-US" sz="5500" dirty="0">
              <a:latin typeface="Times New Roman" panose="02020603050405020304" pitchFamily="18" charset="0"/>
              <a:cs typeface="Times New Roman" panose="02020603050405020304" pitchFamily="18" charset="0"/>
            </a:endParaRPr>
          </a:p>
          <a:p>
            <a:pPr marL="0" indent="0" algn="just">
              <a:buNone/>
            </a:pPr>
            <a:r>
              <a:rPr lang="en-US" sz="5500" dirty="0">
                <a:latin typeface="Times New Roman" panose="02020603050405020304" pitchFamily="18" charset="0"/>
                <a:cs typeface="Times New Roman" panose="02020603050405020304" pitchFamily="18" charset="0"/>
              </a:rPr>
              <a:t>Our research aims to solve this issue by analyzing ransomware behaviors using machine learning techniques. By integrating multiple algorithms, we develop a system that can efficiently classify and detect ransomware attacks.</a:t>
            </a:r>
          </a:p>
          <a:p>
            <a:pPr marL="0" indent="0" algn="just">
              <a:buNone/>
            </a:pPr>
            <a:endParaRPr lang="en-US" sz="5500" dirty="0">
              <a:latin typeface="Times New Roman" panose="02020603050405020304" pitchFamily="18" charset="0"/>
              <a:cs typeface="Times New Roman" panose="02020603050405020304" pitchFamily="18" charset="0"/>
            </a:endParaRPr>
          </a:p>
          <a:p>
            <a:pPr marL="0" indent="0" algn="just">
              <a:buNone/>
            </a:pPr>
            <a:r>
              <a:rPr lang="en-US" sz="5500" dirty="0">
                <a:latin typeface="Times New Roman" panose="02020603050405020304" pitchFamily="18" charset="0"/>
                <a:cs typeface="Times New Roman" panose="02020603050405020304" pitchFamily="18" charset="0"/>
              </a:rPr>
              <a:t>We define our ransomware detection system as follows:  </a:t>
            </a:r>
          </a:p>
          <a:p>
            <a:pPr marL="0" indent="0" algn="just">
              <a:buNone/>
            </a:pPr>
            <a:r>
              <a:rPr lang="en-US" sz="5500" dirty="0">
                <a:latin typeface="Times New Roman" panose="02020603050405020304" pitchFamily="18" charset="0"/>
                <a:cs typeface="Times New Roman" panose="02020603050405020304" pitchFamily="18" charset="0"/>
              </a:rPr>
              <a:t>Our system will identify ransomware behavior through feature extraction and analysis using advanced machine learning techniques, including:  </a:t>
            </a:r>
          </a:p>
          <a:p>
            <a:pPr marL="0" indent="0" algn="just">
              <a:buNone/>
            </a:pPr>
            <a:endParaRPr lang="en-US" sz="55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5500" dirty="0">
                <a:latin typeface="Times New Roman" panose="02020603050405020304" pitchFamily="18" charset="0"/>
                <a:cs typeface="Times New Roman" panose="02020603050405020304" pitchFamily="18" charset="0"/>
              </a:rPr>
              <a:t>Naïve Bayes (NB)</a:t>
            </a:r>
          </a:p>
          <a:p>
            <a:pPr algn="just">
              <a:buFont typeface="Wingdings" panose="05000000000000000000" pitchFamily="2" charset="2"/>
              <a:buChar char="Ø"/>
            </a:pPr>
            <a:r>
              <a:rPr lang="en-US" sz="5500" dirty="0">
                <a:latin typeface="Times New Roman" panose="02020603050405020304" pitchFamily="18" charset="0"/>
                <a:cs typeface="Times New Roman" panose="02020603050405020304" pitchFamily="18" charset="0"/>
              </a:rPr>
              <a:t>Random Forest (RF</a:t>
            </a:r>
          </a:p>
          <a:p>
            <a:pPr algn="just">
              <a:buFont typeface="Wingdings" panose="05000000000000000000" pitchFamily="2" charset="2"/>
              <a:buChar char="Ø"/>
            </a:pPr>
            <a:r>
              <a:rPr lang="en-US" sz="5500" dirty="0">
                <a:latin typeface="Times New Roman" panose="02020603050405020304" pitchFamily="18" charset="0"/>
                <a:cs typeface="Times New Roman" panose="02020603050405020304" pitchFamily="18" charset="0"/>
              </a:rPr>
              <a:t>Neural Network (NN)</a:t>
            </a:r>
          </a:p>
          <a:p>
            <a:pPr algn="just">
              <a:buFont typeface="Wingdings" panose="05000000000000000000" pitchFamily="2" charset="2"/>
              <a:buChar char="Ø"/>
            </a:pPr>
            <a:r>
              <a:rPr lang="en-US" sz="5500" dirty="0">
                <a:latin typeface="Times New Roman" panose="02020603050405020304" pitchFamily="18" charset="0"/>
                <a:cs typeface="Times New Roman" panose="02020603050405020304" pitchFamily="18" charset="0"/>
              </a:rPr>
              <a:t>Decision Tree</a:t>
            </a:r>
          </a:p>
          <a:p>
            <a:pPr algn="just">
              <a:buFont typeface="Wingdings" panose="05000000000000000000" pitchFamily="2" charset="2"/>
              <a:buChar char="Ø"/>
            </a:pPr>
            <a:r>
              <a:rPr lang="en-US" sz="5500" dirty="0">
                <a:latin typeface="Times New Roman" panose="02020603050405020304" pitchFamily="18" charset="0"/>
                <a:cs typeface="Times New Roman" panose="02020603050405020304" pitchFamily="18" charset="0"/>
              </a:rPr>
              <a:t>Logistic Regression</a:t>
            </a:r>
          </a:p>
          <a:p>
            <a:pPr marL="0" indent="0">
              <a:buNone/>
            </a:pPr>
            <a:endParaRPr lang="en-US" b="1" dirty="0"/>
          </a:p>
        </p:txBody>
      </p:sp>
      <p:pic>
        <p:nvPicPr>
          <p:cNvPr id="4" name="Picture 3" descr="cmrity.jpg"/>
          <p:cNvPicPr>
            <a:picLocks noChangeAspect="1"/>
          </p:cNvPicPr>
          <p:nvPr/>
        </p:nvPicPr>
        <p:blipFill>
          <a:blip r:embed="rId2"/>
          <a:stretch>
            <a:fillRect/>
          </a:stretch>
        </p:blipFill>
        <p:spPr>
          <a:xfrm>
            <a:off x="7620000" y="152400"/>
            <a:ext cx="914400" cy="9144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0D5C5B-B567-A830-A992-862CE268E038}"/>
              </a:ext>
            </a:extLst>
          </p:cNvPr>
          <p:cNvSpPr>
            <a:spLocks noGrp="1"/>
          </p:cNvSpPr>
          <p:nvPr>
            <p:ph type="title"/>
          </p:nvPr>
        </p:nvSpPr>
        <p:spPr/>
        <p:txBody>
          <a:bodyPr>
            <a:normAutofit/>
          </a:bodyPr>
          <a:lstStyle/>
          <a:p>
            <a:r>
              <a:rPr lang="en-US" sz="2400" dirty="0">
                <a:latin typeface="Times New Roman" panose="02020603050405020304" pitchFamily="18" charset="0"/>
                <a:cs typeface="Times New Roman" panose="02020603050405020304" pitchFamily="18" charset="0"/>
              </a:rPr>
              <a:t>METHODOLOGY &amp; ARCHITECTURE</a:t>
            </a:r>
            <a:endParaRPr lang="en-IN" sz="2400" dirty="0">
              <a:latin typeface="Times New Roman" panose="02020603050405020304" pitchFamily="18" charset="0"/>
              <a:cs typeface="Times New Roman" panose="02020603050405020304" pitchFamily="18" charset="0"/>
            </a:endParaRPr>
          </a:p>
        </p:txBody>
      </p:sp>
      <p:pic>
        <p:nvPicPr>
          <p:cNvPr id="4" name="Content Placeholder 3">
            <a:extLst>
              <a:ext uri="{FF2B5EF4-FFF2-40B4-BE49-F238E27FC236}">
                <a16:creationId xmlns:a16="http://schemas.microsoft.com/office/drawing/2014/main" id="{B27A297E-CB28-F302-6C43-D8E7BD5DA97E}"/>
              </a:ext>
            </a:extLst>
          </p:cNvPr>
          <p:cNvPicPr>
            <a:picLocks noGrp="1"/>
          </p:cNvPicPr>
          <p:nvPr>
            <p:ph idx="1"/>
          </p:nvPr>
        </p:nvPicPr>
        <p:blipFill>
          <a:blip r:embed="rId2"/>
          <a:stretch>
            <a:fillRect/>
          </a:stretch>
        </p:blipFill>
        <p:spPr>
          <a:xfrm>
            <a:off x="2590800" y="1219200"/>
            <a:ext cx="3700486" cy="5257800"/>
          </a:xfrm>
          <a:prstGeom prst="rect">
            <a:avLst/>
          </a:prstGeom>
        </p:spPr>
      </p:pic>
      <p:pic>
        <p:nvPicPr>
          <p:cNvPr id="5" name="Picture 4" descr="cmrity.jpg">
            <a:extLst>
              <a:ext uri="{FF2B5EF4-FFF2-40B4-BE49-F238E27FC236}">
                <a16:creationId xmlns:a16="http://schemas.microsoft.com/office/drawing/2014/main" id="{0170005C-78B4-F354-3430-50CE7160EE13}"/>
              </a:ext>
            </a:extLst>
          </p:cNvPr>
          <p:cNvPicPr>
            <a:picLocks noChangeAspect="1"/>
          </p:cNvPicPr>
          <p:nvPr/>
        </p:nvPicPr>
        <p:blipFill>
          <a:blip r:embed="rId3"/>
          <a:stretch>
            <a:fillRect/>
          </a:stretch>
        </p:blipFill>
        <p:spPr>
          <a:xfrm>
            <a:off x="7620000" y="152400"/>
            <a:ext cx="914400" cy="914400"/>
          </a:xfrm>
          <a:prstGeom prst="rect">
            <a:avLst/>
          </a:prstGeom>
        </p:spPr>
      </p:pic>
    </p:spTree>
    <p:extLst>
      <p:ext uri="{BB962C8B-B14F-4D97-AF65-F5344CB8AC3E}">
        <p14:creationId xmlns:p14="http://schemas.microsoft.com/office/powerpoint/2010/main" val="22637496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BDD4AD28-A289-22C6-9329-7E969AC562F9}"/>
              </a:ext>
            </a:extLst>
          </p:cNvPr>
          <p:cNvSpPr>
            <a:spLocks noGrp="1"/>
          </p:cNvSpPr>
          <p:nvPr>
            <p:ph type="subTitle" idx="1"/>
          </p:nvPr>
        </p:nvSpPr>
        <p:spPr>
          <a:xfrm>
            <a:off x="3048000" y="381000"/>
            <a:ext cx="3048000" cy="533400"/>
          </a:xfrm>
        </p:spPr>
        <p:txBody>
          <a:bodyPr>
            <a:normAutofit/>
          </a:bodyPr>
          <a:lstStyle/>
          <a:p>
            <a:r>
              <a:rPr lang="en-IN" sz="2400" spc="-1" dirty="0">
                <a:solidFill>
                  <a:srgbClr val="000000"/>
                </a:solidFill>
                <a:latin typeface="Times New Roman" panose="02020603050405020304" pitchFamily="18" charset="0"/>
                <a:cs typeface="Times New Roman" panose="02020603050405020304" pitchFamily="18" charset="0"/>
              </a:rPr>
              <a:t>ALGORITHMS</a:t>
            </a:r>
            <a:endParaRPr lang="en-IN" sz="2400" dirty="0"/>
          </a:p>
        </p:txBody>
      </p:sp>
      <p:sp>
        <p:nvSpPr>
          <p:cNvPr id="2" name="Subtitle 2">
            <a:extLst>
              <a:ext uri="{FF2B5EF4-FFF2-40B4-BE49-F238E27FC236}">
                <a16:creationId xmlns:a16="http://schemas.microsoft.com/office/drawing/2014/main" id="{2A18B16B-E799-C44B-A72A-F29967389F6A}"/>
              </a:ext>
            </a:extLst>
          </p:cNvPr>
          <p:cNvSpPr txBox="1">
            <a:spLocks/>
          </p:cNvSpPr>
          <p:nvPr/>
        </p:nvSpPr>
        <p:spPr>
          <a:xfrm>
            <a:off x="381000" y="1066800"/>
            <a:ext cx="8382000" cy="54102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Times New Roman" panose="02020603050405020304" pitchFamily="18" charset="0"/>
              </a:rPr>
              <a:t>Naïve Bayes (NB): </a:t>
            </a:r>
          </a:p>
          <a:p>
            <a:pPr lvl="1" algn="just">
              <a:defRPr/>
            </a:pP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Times New Roman" panose="02020603050405020304" pitchFamily="18" charset="0"/>
              </a:rPr>
              <a:t>A simple, fast algorithm based on Bayes' Theorem that assumes features are independent. It’s great for classification tasks.</a:t>
            </a:r>
            <a:endParaRPr kumimoji="0" lang="en-US" sz="1200" b="1" i="0" u="none" strike="noStrike" kern="1200" cap="none" spc="0" normalizeH="0" baseline="0" noProof="0" dirty="0">
              <a:ln>
                <a:noFill/>
              </a:ln>
              <a:solidFill>
                <a:prstClr val="black"/>
              </a:solidFill>
              <a:effectLst/>
              <a:uLnTx/>
              <a:uFillTx/>
              <a:latin typeface="Hprefvnquvjibbpblyxjblvckra"/>
              <a:ea typeface="Calibri" panose="020F0502020204030204" pitchFamily="34" charset="0"/>
              <a:cs typeface="Hprefvnquvjibbpblyxjblvckra"/>
            </a:endParaRPr>
          </a:p>
          <a:p>
            <a:pPr marL="228600" indent="-285750" algn="just">
              <a:buFont typeface="Wingdings" panose="05000000000000000000" pitchFamily="2" charset="2"/>
              <a:buChar char="Ø"/>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Times New Roman" panose="02020603050405020304" pitchFamily="18" charset="0"/>
              </a:rPr>
              <a:t>Random Forest Algorithm (RF):</a:t>
            </a:r>
          </a:p>
          <a:p>
            <a:pPr marL="400050" marR="0" lvl="1" algn="just" defTabSz="914400" rtl="0" eaLnBrk="1" fontAlgn="auto" latinLnBrk="0" hangingPunct="1">
              <a:lnSpc>
                <a:spcPct val="100000"/>
              </a:lnSpc>
              <a:spcBef>
                <a:spcPct val="20000"/>
              </a:spcBef>
              <a:spcAft>
                <a:spcPts val="0"/>
              </a:spcAft>
              <a:buClrTx/>
              <a:buSzTx/>
              <a:tabLst/>
              <a:defRPr/>
            </a:pP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Times New Roman" panose="02020603050405020304" pitchFamily="18" charset="0"/>
              </a:rPr>
              <a:t>Random Forest is a machine learning algorithm that builds multiple decision trees and combines their outputs for better accuracy and reduced overfitting. It uses bagging to train trees on random data subsets, making it robust, accurate, and effective for classification and regression tasks.</a:t>
            </a:r>
            <a:endParaRPr kumimoji="0" lang="en-US" sz="1600" b="0" i="0" u="none" strike="noStrike" kern="1200" cap="none" spc="0" normalizeH="0" baseline="0" noProof="0" dirty="0">
              <a:ln>
                <a:noFill/>
              </a:ln>
              <a:solidFill>
                <a:prstClr val="black"/>
              </a:solidFill>
              <a:effectLst/>
              <a:uLnTx/>
              <a:uFillTx/>
              <a:latin typeface="Hprefvnquvjibbpblyxjblvckra"/>
              <a:ea typeface="Calibri" panose="020F0502020204030204" pitchFamily="34" charset="0"/>
              <a:cs typeface="Hprefvnquvjibbpblyxjblvckra"/>
            </a:endParaRPr>
          </a:p>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Times New Roman" panose="02020603050405020304" pitchFamily="18" charset="0"/>
              </a:rPr>
              <a:t>Logistic Regression:</a:t>
            </a:r>
          </a:p>
          <a:p>
            <a:pPr marR="0" lvl="1" algn="just" defTabSz="914400" rtl="0" eaLnBrk="1" fontAlgn="auto" latinLnBrk="0" hangingPunct="1">
              <a:lnSpc>
                <a:spcPct val="100000"/>
              </a:lnSpc>
              <a:spcBef>
                <a:spcPct val="20000"/>
              </a:spcBef>
              <a:spcAft>
                <a:spcPts val="0"/>
              </a:spcAft>
              <a:buClrTx/>
              <a:buSzTx/>
              <a:tabLst/>
              <a:defRPr/>
            </a:pP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Times New Roman" panose="02020603050405020304" pitchFamily="18" charset="0"/>
              </a:rPr>
              <a:t>Purpose: Predicts the probability of a user belonging to a specific class.  </a:t>
            </a:r>
          </a:p>
          <a:p>
            <a:pPr marR="0" lvl="1" algn="just" defTabSz="914400" rtl="0" eaLnBrk="1" fontAlgn="auto" latinLnBrk="0" hangingPunct="1">
              <a:lnSpc>
                <a:spcPct val="100000"/>
              </a:lnSpc>
              <a:spcBef>
                <a:spcPct val="20000"/>
              </a:spcBef>
              <a:spcAft>
                <a:spcPts val="0"/>
              </a:spcAft>
              <a:buClrTx/>
              <a:buSzTx/>
              <a:tabLst/>
              <a:defRPr/>
            </a:pP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Times New Roman" panose="02020603050405020304" pitchFamily="18" charset="0"/>
              </a:rPr>
              <a:t>How it Helps: Provides a binary classification (PMU or not) by applying a logistic function to patterns extracted from user ratings and reviews.</a:t>
            </a:r>
            <a:r>
              <a:rPr kumimoji="0" lang="en-US" sz="1500" b="0" i="0" u="none" strike="noStrike" kern="1200" cap="none" spc="0" normalizeH="0" baseline="0" noProof="0" dirty="0">
                <a:ln>
                  <a:noFill/>
                </a:ln>
                <a:solidFill>
                  <a:prstClr val="black"/>
                </a:solidFill>
                <a:effectLst/>
                <a:uLnTx/>
                <a:uFillTx/>
                <a:latin typeface="Hprefvnquvjibbpblyxjblvckra"/>
                <a:ea typeface="Calibri" panose="020F0502020204030204" pitchFamily="34" charset="0"/>
                <a:cs typeface="Hprefvnquvjibbpblyxjblvckra"/>
              </a:rPr>
              <a:t>  </a:t>
            </a:r>
          </a:p>
          <a:p>
            <a:pPr marL="342900" marR="0" lvl="0" indent="-342900" algn="just"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Times New Roman" panose="02020603050405020304" pitchFamily="18" charset="0"/>
              </a:rPr>
              <a:t>Decision Tree:</a:t>
            </a:r>
          </a:p>
          <a:p>
            <a:pPr marL="400050" marR="0" lvl="1" algn="just" defTabSz="914400" rtl="0" eaLnBrk="1" fontAlgn="auto" latinLnBrk="0" hangingPunct="1">
              <a:lnSpc>
                <a:spcPct val="100000"/>
              </a:lnSpc>
              <a:spcBef>
                <a:spcPct val="20000"/>
              </a:spcBef>
              <a:spcAft>
                <a:spcPts val="0"/>
              </a:spcAft>
              <a:buClrTx/>
              <a:buSzTx/>
              <a:tabLst/>
              <a:defRPr/>
            </a:pP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Times New Roman" panose="02020603050405020304" pitchFamily="18" charset="0"/>
              </a:rPr>
              <a:t>Purpose:  Classifies based on a tree-like structure of decisions.  </a:t>
            </a:r>
          </a:p>
          <a:p>
            <a:pPr marL="400050" marR="0" lvl="1" algn="just" defTabSz="914400" rtl="0" eaLnBrk="1" fontAlgn="auto" latinLnBrk="0" hangingPunct="1">
              <a:lnSpc>
                <a:spcPct val="100000"/>
              </a:lnSpc>
              <a:spcBef>
                <a:spcPct val="20000"/>
              </a:spcBef>
              <a:spcAft>
                <a:spcPts val="0"/>
              </a:spcAft>
              <a:buClrTx/>
              <a:buSzTx/>
              <a:tabLst/>
              <a:defRPr/>
            </a:pP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Times New Roman" panose="02020603050405020304" pitchFamily="18" charset="0"/>
              </a:rPr>
              <a:t>How it Helps: Splits data into branches based on review and rating patterns, making it easier to identify PMUs based on their behavioral features.  </a:t>
            </a:r>
            <a:endParaRPr lang="en-US" sz="15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endParaRPr>
          </a:p>
          <a:p>
            <a:pPr marL="285750" indent="-342900" algn="just">
              <a:buFont typeface="Wingdings" panose="05000000000000000000" pitchFamily="2" charset="2"/>
              <a:buChar char="Ø"/>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Times New Roman" panose="02020603050405020304" pitchFamily="18" charset="0"/>
              </a:rPr>
              <a:t>Neural Network (NN): </a:t>
            </a:r>
          </a:p>
          <a:p>
            <a:pPr marL="400050" marR="0" lvl="1" algn="just" defTabSz="914400" rtl="0" eaLnBrk="1" fontAlgn="auto" latinLnBrk="0" hangingPunct="1">
              <a:lnSpc>
                <a:spcPct val="100000"/>
              </a:lnSpc>
              <a:spcBef>
                <a:spcPct val="20000"/>
              </a:spcBef>
              <a:spcAft>
                <a:spcPts val="0"/>
              </a:spcAft>
              <a:buClrTx/>
              <a:buSzTx/>
              <a:tabLst/>
              <a:defRPr/>
            </a:pP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Calibri" panose="020F0502020204030204" pitchFamily="34" charset="0"/>
                <a:cs typeface="Times New Roman" panose="02020603050405020304" pitchFamily="18" charset="0"/>
              </a:rPr>
              <a:t>A model inspired by the human brain, with layers of neurons that learn complex patterns. It’s powerful for tasks like image recognition and ransomware detection.</a:t>
            </a:r>
          </a:p>
          <a:p>
            <a:pPr marL="342900" marR="0" lvl="0" indent="-342900" algn="l" defTabSz="914400" rtl="0" eaLnBrk="1" fontAlgn="auto" latinLnBrk="0" hangingPunct="1">
              <a:lnSpc>
                <a:spcPct val="100000"/>
              </a:lnSpc>
              <a:spcBef>
                <a:spcPct val="20000"/>
              </a:spcBef>
              <a:spcAft>
                <a:spcPts val="0"/>
              </a:spcAft>
              <a:buClrTx/>
              <a:buSzTx/>
              <a:buFont typeface="Wingdings" panose="05000000000000000000" pitchFamily="2" charset="2"/>
              <a:buChar char="Ø"/>
              <a:tabLst/>
              <a:defRPr/>
            </a:pPr>
            <a:endParaRPr kumimoji="0" lang="en-US" sz="1600" b="0" i="0" u="none" strike="noStrike" kern="1200" cap="none" spc="0" normalizeH="0" baseline="0" noProof="0" dirty="0">
              <a:ln>
                <a:noFill/>
              </a:ln>
              <a:solidFill>
                <a:prstClr val="black"/>
              </a:solidFill>
              <a:effectLst/>
              <a:uLnTx/>
              <a:uFillTx/>
              <a:latin typeface="Hprefvnquvjibbpblyxjblvckra"/>
              <a:ea typeface="Calibri" panose="020F0502020204030204" pitchFamily="34" charset="0"/>
              <a:cs typeface="Hprefvnquvjibbpblyxjblvckra"/>
            </a:endParaRPr>
          </a:p>
          <a:p>
            <a:pPr algn="l"/>
            <a:endParaRPr lang="en-IN" dirty="0"/>
          </a:p>
        </p:txBody>
      </p:sp>
      <p:pic>
        <p:nvPicPr>
          <p:cNvPr id="4" name="Picture 3" descr="cmrity.jpg">
            <a:extLst>
              <a:ext uri="{FF2B5EF4-FFF2-40B4-BE49-F238E27FC236}">
                <a16:creationId xmlns:a16="http://schemas.microsoft.com/office/drawing/2014/main" id="{8B57EA9C-22FA-9297-2154-8DAC7170408A}"/>
              </a:ext>
            </a:extLst>
          </p:cNvPr>
          <p:cNvPicPr>
            <a:picLocks noChangeAspect="1"/>
          </p:cNvPicPr>
          <p:nvPr/>
        </p:nvPicPr>
        <p:blipFill>
          <a:blip r:embed="rId2"/>
          <a:stretch>
            <a:fillRect/>
          </a:stretch>
        </p:blipFill>
        <p:spPr>
          <a:xfrm>
            <a:off x="7620000" y="152400"/>
            <a:ext cx="914400" cy="914400"/>
          </a:xfrm>
          <a:prstGeom prst="rect">
            <a:avLst/>
          </a:prstGeom>
        </p:spPr>
      </p:pic>
    </p:spTree>
    <p:extLst>
      <p:ext uri="{BB962C8B-B14F-4D97-AF65-F5344CB8AC3E}">
        <p14:creationId xmlns:p14="http://schemas.microsoft.com/office/powerpoint/2010/main" val="18436229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cmrity.jpg">
            <a:extLst>
              <a:ext uri="{FF2B5EF4-FFF2-40B4-BE49-F238E27FC236}">
                <a16:creationId xmlns:a16="http://schemas.microsoft.com/office/drawing/2014/main" id="{F71BC210-ED92-F788-1672-C9E39E633797}"/>
              </a:ext>
            </a:extLst>
          </p:cNvPr>
          <p:cNvPicPr>
            <a:picLocks noChangeAspect="1"/>
          </p:cNvPicPr>
          <p:nvPr/>
        </p:nvPicPr>
        <p:blipFill>
          <a:blip r:embed="rId2"/>
          <a:stretch>
            <a:fillRect/>
          </a:stretch>
        </p:blipFill>
        <p:spPr>
          <a:xfrm>
            <a:off x="7620000" y="152400"/>
            <a:ext cx="914400" cy="914400"/>
          </a:xfrm>
          <a:prstGeom prst="rect">
            <a:avLst/>
          </a:prstGeom>
        </p:spPr>
      </p:pic>
      <p:sp>
        <p:nvSpPr>
          <p:cNvPr id="4" name="Content Placeholder 3">
            <a:extLst>
              <a:ext uri="{FF2B5EF4-FFF2-40B4-BE49-F238E27FC236}">
                <a16:creationId xmlns:a16="http://schemas.microsoft.com/office/drawing/2014/main" id="{0371B777-2ABC-760B-4D42-B5BC15B68D76}"/>
              </a:ext>
            </a:extLst>
          </p:cNvPr>
          <p:cNvSpPr>
            <a:spLocks noGrp="1"/>
          </p:cNvSpPr>
          <p:nvPr>
            <p:ph idx="1"/>
          </p:nvPr>
        </p:nvSpPr>
        <p:spPr>
          <a:xfrm>
            <a:off x="439057" y="1052286"/>
            <a:ext cx="8229600" cy="5501004"/>
          </a:xfrm>
        </p:spPr>
        <p:txBody>
          <a:bodyPr>
            <a:normAutofit fontScale="92500" lnSpcReduction="10000"/>
          </a:bodyPr>
          <a:lstStyle/>
          <a:p>
            <a:pPr algn="just">
              <a:buNone/>
            </a:pPr>
            <a:r>
              <a:rPr lang="en-IN" sz="1700" b="1" dirty="0">
                <a:latin typeface="Times New Roman" panose="02020603050405020304" pitchFamily="18" charset="0"/>
                <a:cs typeface="Times New Roman" panose="02020603050405020304" pitchFamily="18" charset="0"/>
              </a:rPr>
              <a:t>1. Data Collection &amp; Preprocessing:</a:t>
            </a:r>
          </a:p>
          <a:p>
            <a:pPr algn="just">
              <a:buFont typeface="Arial" panose="020B0604020202020204" pitchFamily="34" charset="0"/>
              <a:buChar char="•"/>
            </a:pPr>
            <a:r>
              <a:rPr lang="en-IN" sz="1700" b="1" dirty="0">
                <a:latin typeface="Times New Roman" panose="02020603050405020304" pitchFamily="18" charset="0"/>
                <a:cs typeface="Times New Roman" panose="02020603050405020304" pitchFamily="18" charset="0"/>
              </a:rPr>
              <a:t>Collect Data:</a:t>
            </a:r>
            <a:r>
              <a:rPr lang="en-IN" sz="1700" dirty="0">
                <a:latin typeface="Times New Roman" panose="02020603050405020304" pitchFamily="18" charset="0"/>
                <a:cs typeface="Times New Roman" panose="02020603050405020304" pitchFamily="18" charset="0"/>
              </a:rPr>
              <a:t> Gather ransomware and benign samples from datasets.</a:t>
            </a:r>
          </a:p>
          <a:p>
            <a:pPr algn="just">
              <a:buFont typeface="Arial" panose="020B0604020202020204" pitchFamily="34" charset="0"/>
              <a:buChar char="•"/>
            </a:pPr>
            <a:r>
              <a:rPr lang="en-IN" sz="1700" b="1" dirty="0">
                <a:latin typeface="Times New Roman" panose="02020603050405020304" pitchFamily="18" charset="0"/>
                <a:cs typeface="Times New Roman" panose="02020603050405020304" pitchFamily="18" charset="0"/>
              </a:rPr>
              <a:t>Feature Extraction:</a:t>
            </a:r>
            <a:r>
              <a:rPr lang="en-IN" sz="1700" dirty="0">
                <a:latin typeface="Times New Roman" panose="02020603050405020304" pitchFamily="18" charset="0"/>
                <a:cs typeface="Times New Roman" panose="02020603050405020304" pitchFamily="18" charset="0"/>
              </a:rPr>
              <a:t> Extract file </a:t>
            </a:r>
            <a:r>
              <a:rPr lang="en-IN" sz="1700" dirty="0" err="1">
                <a:latin typeface="Times New Roman" panose="02020603050405020304" pitchFamily="18" charset="0"/>
                <a:cs typeface="Times New Roman" panose="02020603050405020304" pitchFamily="18" charset="0"/>
              </a:rPr>
              <a:t>behavior</a:t>
            </a:r>
            <a:r>
              <a:rPr lang="en-IN" sz="1700" dirty="0">
                <a:latin typeface="Times New Roman" panose="02020603050405020304" pitchFamily="18" charset="0"/>
                <a:cs typeface="Times New Roman" panose="02020603050405020304" pitchFamily="18" charset="0"/>
              </a:rPr>
              <a:t>, API calls, network activity, and entropy levels.</a:t>
            </a:r>
          </a:p>
          <a:p>
            <a:pPr algn="just">
              <a:buFont typeface="Arial" panose="020B0604020202020204" pitchFamily="34" charset="0"/>
              <a:buChar char="•"/>
            </a:pPr>
            <a:r>
              <a:rPr lang="en-IN" sz="1700" b="1" dirty="0">
                <a:latin typeface="Times New Roman" panose="02020603050405020304" pitchFamily="18" charset="0"/>
                <a:cs typeface="Times New Roman" panose="02020603050405020304" pitchFamily="18" charset="0"/>
              </a:rPr>
              <a:t>Clean &amp; Normalize:</a:t>
            </a:r>
            <a:r>
              <a:rPr lang="en-IN" sz="1700" dirty="0">
                <a:latin typeface="Times New Roman" panose="02020603050405020304" pitchFamily="18" charset="0"/>
                <a:cs typeface="Times New Roman" panose="02020603050405020304" pitchFamily="18" charset="0"/>
              </a:rPr>
              <a:t> Handle missing values, remove duplicates, and scale data for consistency.</a:t>
            </a:r>
          </a:p>
          <a:p>
            <a:pPr algn="just">
              <a:buNone/>
            </a:pPr>
            <a:r>
              <a:rPr lang="en-US" sz="1700" b="1" dirty="0">
                <a:latin typeface="Times New Roman" panose="02020603050405020304" pitchFamily="18" charset="0"/>
                <a:cs typeface="Times New Roman" panose="02020603050405020304" pitchFamily="18" charset="0"/>
              </a:rPr>
              <a:t>2. Environment Modeling:</a:t>
            </a:r>
          </a:p>
          <a:p>
            <a:pPr algn="just">
              <a:buFont typeface="Arial" panose="020B0604020202020204" pitchFamily="34" charset="0"/>
              <a:buChar char="•"/>
            </a:pPr>
            <a:r>
              <a:rPr lang="en-US" sz="1700" b="1" dirty="0">
                <a:latin typeface="Times New Roman" panose="02020603050405020304" pitchFamily="18" charset="0"/>
                <a:cs typeface="Times New Roman" panose="02020603050405020304" pitchFamily="18" charset="0"/>
              </a:rPr>
              <a:t>Define Problem:</a:t>
            </a:r>
            <a:r>
              <a:rPr lang="en-US" sz="1700" dirty="0">
                <a:latin typeface="Times New Roman" panose="02020603050405020304" pitchFamily="18" charset="0"/>
                <a:cs typeface="Times New Roman" panose="02020603050405020304" pitchFamily="18" charset="0"/>
              </a:rPr>
              <a:t> Model ransomware detection as a binary classification task (malware vs benign).</a:t>
            </a:r>
          </a:p>
          <a:p>
            <a:pPr algn="just">
              <a:buFont typeface="Arial" panose="020B0604020202020204" pitchFamily="34" charset="0"/>
              <a:buChar char="•"/>
            </a:pPr>
            <a:r>
              <a:rPr lang="en-US" sz="1700" b="1" dirty="0">
                <a:latin typeface="Times New Roman" panose="02020603050405020304" pitchFamily="18" charset="0"/>
                <a:cs typeface="Times New Roman" panose="02020603050405020304" pitchFamily="18" charset="0"/>
              </a:rPr>
              <a:t>Feature Representation:</a:t>
            </a:r>
            <a:r>
              <a:rPr lang="en-US" sz="1700" dirty="0">
                <a:latin typeface="Times New Roman" panose="02020603050405020304" pitchFamily="18" charset="0"/>
                <a:cs typeface="Times New Roman" panose="02020603050405020304" pitchFamily="18" charset="0"/>
              </a:rPr>
              <a:t> Represent files as vectors with static and dynamic features.</a:t>
            </a:r>
          </a:p>
          <a:p>
            <a:pPr algn="just">
              <a:buNone/>
            </a:pPr>
            <a:r>
              <a:rPr lang="en-IN" sz="1700" b="1" dirty="0">
                <a:latin typeface="Times New Roman" panose="02020603050405020304" pitchFamily="18" charset="0"/>
                <a:cs typeface="Times New Roman" panose="02020603050405020304" pitchFamily="18" charset="0"/>
              </a:rPr>
              <a:t>3. Algorithm Selection &amp; Training:</a:t>
            </a:r>
          </a:p>
          <a:p>
            <a:pPr algn="just">
              <a:buFont typeface="Arial" panose="020B0604020202020204" pitchFamily="34" charset="0"/>
              <a:buChar char="•"/>
            </a:pPr>
            <a:r>
              <a:rPr lang="en-IN" sz="1700" b="1" dirty="0">
                <a:latin typeface="Times New Roman" panose="02020603050405020304" pitchFamily="18" charset="0"/>
                <a:cs typeface="Times New Roman" panose="02020603050405020304" pitchFamily="18" charset="0"/>
              </a:rPr>
              <a:t>Choose Algorithms:</a:t>
            </a:r>
            <a:r>
              <a:rPr lang="en-IN" sz="1700" dirty="0">
                <a:latin typeface="Times New Roman" panose="02020603050405020304" pitchFamily="18" charset="0"/>
                <a:cs typeface="Times New Roman" panose="02020603050405020304" pitchFamily="18" charset="0"/>
              </a:rPr>
              <a:t> Use Logistic Regression, Random Forest, SVM, or </a:t>
            </a:r>
            <a:r>
              <a:rPr lang="en-IN" sz="1700" dirty="0" err="1">
                <a:latin typeface="Times New Roman" panose="02020603050405020304" pitchFamily="18" charset="0"/>
                <a:cs typeface="Times New Roman" panose="02020603050405020304" pitchFamily="18" charset="0"/>
              </a:rPr>
              <a:t>XGBoost</a:t>
            </a:r>
            <a:r>
              <a:rPr lang="en-IN" sz="1700" dirty="0">
                <a:latin typeface="Times New Roman" panose="02020603050405020304" pitchFamily="18" charset="0"/>
                <a:cs typeface="Times New Roman" panose="02020603050405020304" pitchFamily="18" charset="0"/>
              </a:rPr>
              <a:t>.</a:t>
            </a:r>
          </a:p>
          <a:p>
            <a:pPr algn="just">
              <a:buFont typeface="Arial" panose="020B0604020202020204" pitchFamily="34" charset="0"/>
              <a:buChar char="•"/>
            </a:pPr>
            <a:r>
              <a:rPr lang="en-IN" sz="1700" b="1" dirty="0">
                <a:latin typeface="Times New Roman" panose="02020603050405020304" pitchFamily="18" charset="0"/>
                <a:cs typeface="Times New Roman" panose="02020603050405020304" pitchFamily="18" charset="0"/>
              </a:rPr>
              <a:t>Train &amp; Tune:</a:t>
            </a:r>
            <a:r>
              <a:rPr lang="en-IN" sz="1700" dirty="0">
                <a:latin typeface="Times New Roman" panose="02020603050405020304" pitchFamily="18" charset="0"/>
                <a:cs typeface="Times New Roman" panose="02020603050405020304" pitchFamily="18" charset="0"/>
              </a:rPr>
              <a:t> Split data into train/test sets, apply cross-validation, and fine-tune hyperparameters.</a:t>
            </a:r>
          </a:p>
          <a:p>
            <a:pPr algn="just">
              <a:buNone/>
            </a:pPr>
            <a:r>
              <a:rPr lang="en-US" sz="1700" b="1" dirty="0">
                <a:latin typeface="Times New Roman" panose="02020603050405020304" pitchFamily="18" charset="0"/>
                <a:cs typeface="Times New Roman" panose="02020603050405020304" pitchFamily="18" charset="0"/>
              </a:rPr>
              <a:t>4. Evaluation:</a:t>
            </a:r>
          </a:p>
          <a:p>
            <a:pPr algn="just">
              <a:buFont typeface="Arial" panose="020B0604020202020204" pitchFamily="34" charset="0"/>
              <a:buChar char="•"/>
            </a:pPr>
            <a:r>
              <a:rPr lang="en-US" sz="1700" b="1" dirty="0">
                <a:latin typeface="Times New Roman" panose="02020603050405020304" pitchFamily="18" charset="0"/>
                <a:cs typeface="Times New Roman" panose="02020603050405020304" pitchFamily="18" charset="0"/>
              </a:rPr>
              <a:t>Assess Performance:</a:t>
            </a:r>
            <a:r>
              <a:rPr lang="en-US" sz="1700" dirty="0">
                <a:latin typeface="Times New Roman" panose="02020603050405020304" pitchFamily="18" charset="0"/>
                <a:cs typeface="Times New Roman" panose="02020603050405020304" pitchFamily="18" charset="0"/>
              </a:rPr>
              <a:t> Measure Accuracy, Precision, Recall, F1-Score, and ROC-AUC.</a:t>
            </a:r>
          </a:p>
          <a:p>
            <a:pPr algn="just">
              <a:buFont typeface="Arial" panose="020B0604020202020204" pitchFamily="34" charset="0"/>
              <a:buChar char="•"/>
            </a:pPr>
            <a:r>
              <a:rPr lang="en-US" sz="1700" b="1" dirty="0">
                <a:latin typeface="Times New Roman" panose="02020603050405020304" pitchFamily="18" charset="0"/>
                <a:cs typeface="Times New Roman" panose="02020603050405020304" pitchFamily="18" charset="0"/>
              </a:rPr>
              <a:t>Optimize:</a:t>
            </a:r>
            <a:r>
              <a:rPr lang="en-US" sz="1700" dirty="0">
                <a:latin typeface="Times New Roman" panose="02020603050405020304" pitchFamily="18" charset="0"/>
                <a:cs typeface="Times New Roman" panose="02020603050405020304" pitchFamily="18" charset="0"/>
              </a:rPr>
              <a:t> Improve model based on misclassifications or imbalanced data.</a:t>
            </a:r>
          </a:p>
          <a:p>
            <a:pPr algn="just">
              <a:buNone/>
            </a:pPr>
            <a:r>
              <a:rPr lang="en-US" sz="1700" b="1" dirty="0">
                <a:latin typeface="Times New Roman" panose="02020603050405020304" pitchFamily="18" charset="0"/>
                <a:cs typeface="Times New Roman" panose="02020603050405020304" pitchFamily="18" charset="0"/>
              </a:rPr>
              <a:t>5. Deployment &amp; Monitoring:</a:t>
            </a:r>
          </a:p>
          <a:p>
            <a:pPr algn="just">
              <a:buFont typeface="Arial" panose="020B0604020202020204" pitchFamily="34" charset="0"/>
              <a:buChar char="•"/>
            </a:pPr>
            <a:r>
              <a:rPr lang="en-US" sz="1700" b="1" dirty="0">
                <a:latin typeface="Times New Roman" panose="02020603050405020304" pitchFamily="18" charset="0"/>
                <a:cs typeface="Times New Roman" panose="02020603050405020304" pitchFamily="18" charset="0"/>
              </a:rPr>
              <a:t>Deploy Model:</a:t>
            </a:r>
            <a:r>
              <a:rPr lang="en-US" sz="1700" dirty="0">
                <a:latin typeface="Times New Roman" panose="02020603050405020304" pitchFamily="18" charset="0"/>
                <a:cs typeface="Times New Roman" panose="02020603050405020304" pitchFamily="18" charset="0"/>
              </a:rPr>
              <a:t> Integrate into a security system for real-time file classification.</a:t>
            </a:r>
          </a:p>
          <a:p>
            <a:pPr algn="just">
              <a:buFont typeface="Arial" panose="020B0604020202020204" pitchFamily="34" charset="0"/>
              <a:buChar char="•"/>
            </a:pPr>
            <a:r>
              <a:rPr lang="en-US" sz="1700" b="1" dirty="0">
                <a:latin typeface="Times New Roman" panose="02020603050405020304" pitchFamily="18" charset="0"/>
                <a:cs typeface="Times New Roman" panose="02020603050405020304" pitchFamily="18" charset="0"/>
              </a:rPr>
              <a:t>Monitor &amp; Retrain:</a:t>
            </a:r>
            <a:r>
              <a:rPr lang="en-US" sz="1700" dirty="0">
                <a:latin typeface="Times New Roman" panose="02020603050405020304" pitchFamily="18" charset="0"/>
                <a:cs typeface="Times New Roman" panose="02020603050405020304" pitchFamily="18" charset="0"/>
              </a:rPr>
              <a:t> Continuously update the model with new data to adapt to evolving threats.</a:t>
            </a:r>
          </a:p>
          <a:p>
            <a:pPr marL="0" indent="0">
              <a:buNone/>
            </a:pPr>
            <a:endParaRPr lang="en-IN" sz="1600" dirty="0"/>
          </a:p>
          <a:p>
            <a:pPr marL="0" indent="0">
              <a:buNone/>
            </a:pPr>
            <a:endParaRPr lang="en-US" sz="1600" dirty="0">
              <a:latin typeface="Times New Roman" panose="02020603050405020304" pitchFamily="18" charset="0"/>
              <a:cs typeface="Times New Roman" panose="02020603050405020304" pitchFamily="18" charset="0"/>
            </a:endParaRPr>
          </a:p>
          <a:p>
            <a:pPr marL="0" indent="0">
              <a:buNone/>
            </a:pPr>
            <a:endParaRPr lang="en-US" sz="1600" dirty="0">
              <a:latin typeface="Times New Roman" panose="02020603050405020304" pitchFamily="18" charset="0"/>
              <a:cs typeface="Times New Roman" panose="02020603050405020304" pitchFamily="18" charset="0"/>
            </a:endParaRPr>
          </a:p>
          <a:p>
            <a:endParaRPr lang="en-IN" dirty="0"/>
          </a:p>
        </p:txBody>
      </p:sp>
      <p:sp>
        <p:nvSpPr>
          <p:cNvPr id="8" name="Title 7">
            <a:extLst>
              <a:ext uri="{FF2B5EF4-FFF2-40B4-BE49-F238E27FC236}">
                <a16:creationId xmlns:a16="http://schemas.microsoft.com/office/drawing/2014/main" id="{95ED66C6-31A6-CA72-4E75-009431FA05C6}"/>
              </a:ext>
            </a:extLst>
          </p:cNvPr>
          <p:cNvSpPr>
            <a:spLocks noGrp="1"/>
          </p:cNvSpPr>
          <p:nvPr>
            <p:ph type="title"/>
          </p:nvPr>
        </p:nvSpPr>
        <p:spPr>
          <a:xfrm>
            <a:off x="475343" y="38100"/>
            <a:ext cx="8229600" cy="1143000"/>
          </a:xfrm>
        </p:spPr>
        <p:txBody>
          <a:bodyPr>
            <a:normAutofit/>
          </a:bodyPr>
          <a:lstStyle/>
          <a:p>
            <a:r>
              <a:rPr lang="en-IN" sz="2400" spc="-1" dirty="0">
                <a:solidFill>
                  <a:srgbClr val="000000"/>
                </a:solidFill>
                <a:latin typeface="Times New Roman" panose="02020603050405020304" pitchFamily="18" charset="0"/>
                <a:cs typeface="Times New Roman" panose="02020603050405020304" pitchFamily="18" charset="0"/>
              </a:rPr>
              <a:t>METHODOLOGY</a:t>
            </a:r>
            <a:endParaRPr lang="en-IN" sz="2400" b="1" dirty="0"/>
          </a:p>
        </p:txBody>
      </p:sp>
    </p:spTree>
    <p:extLst>
      <p:ext uri="{BB962C8B-B14F-4D97-AF65-F5344CB8AC3E}">
        <p14:creationId xmlns:p14="http://schemas.microsoft.com/office/powerpoint/2010/main" val="25653493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F0266E98-6F36-90B4-BD48-AFC3076E081E}"/>
              </a:ext>
            </a:extLst>
          </p:cNvPr>
          <p:cNvSpPr txBox="1">
            <a:spLocks/>
          </p:cNvSpPr>
          <p:nvPr/>
        </p:nvSpPr>
        <p:spPr>
          <a:xfrm>
            <a:off x="3048000" y="533400"/>
            <a:ext cx="3048000" cy="5334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r>
              <a:rPr lang="en-US" sz="2400" spc="-1" dirty="0">
                <a:solidFill>
                  <a:srgbClr val="000000"/>
                </a:solidFill>
                <a:latin typeface="Times New Roman" panose="02020603050405020304" pitchFamily="18" charset="0"/>
                <a:cs typeface="Times New Roman" panose="02020603050405020304" pitchFamily="18" charset="0"/>
              </a:rPr>
              <a:t>C</a:t>
            </a:r>
            <a:r>
              <a:rPr lang="en-IN" sz="2400" spc="-1" dirty="0">
                <a:solidFill>
                  <a:srgbClr val="000000"/>
                </a:solidFill>
                <a:latin typeface="Times New Roman" panose="02020603050405020304" pitchFamily="18" charset="0"/>
                <a:cs typeface="Times New Roman" panose="02020603050405020304" pitchFamily="18" charset="0"/>
              </a:rPr>
              <a:t>ONCLUSION</a:t>
            </a:r>
            <a:endParaRPr lang="en-IN" sz="2400" dirty="0"/>
          </a:p>
        </p:txBody>
      </p:sp>
      <p:sp>
        <p:nvSpPr>
          <p:cNvPr id="6" name="Subtitle 5">
            <a:extLst>
              <a:ext uri="{FF2B5EF4-FFF2-40B4-BE49-F238E27FC236}">
                <a16:creationId xmlns:a16="http://schemas.microsoft.com/office/drawing/2014/main" id="{4BEBBA18-7E78-719B-6B76-B1A3A13A91B4}"/>
              </a:ext>
            </a:extLst>
          </p:cNvPr>
          <p:cNvSpPr>
            <a:spLocks noGrp="1"/>
          </p:cNvSpPr>
          <p:nvPr>
            <p:ph type="subTitle" idx="1"/>
          </p:nvPr>
        </p:nvSpPr>
        <p:spPr>
          <a:xfrm>
            <a:off x="419100" y="710293"/>
            <a:ext cx="8305800" cy="5437414"/>
          </a:xfrm>
        </p:spPr>
        <p:txBody>
          <a:bodyPr>
            <a:normAutofit/>
          </a:bodyPr>
          <a:lstStyle/>
          <a:p>
            <a:endParaRPr lang="en-US" dirty="0"/>
          </a:p>
          <a:p>
            <a:pPr algn="just"/>
            <a:r>
              <a:rPr lang="en-US" sz="1800" dirty="0">
                <a:solidFill>
                  <a:schemeClr val="tx1"/>
                </a:solidFill>
                <a:latin typeface="Times New Roman" panose="02020603050405020304" pitchFamily="18" charset="0"/>
                <a:cs typeface="Times New Roman" panose="02020603050405020304" pitchFamily="18" charset="0"/>
              </a:rPr>
              <a:t>Malware including ransomware is increasingly posing a serious security threat to financial institutions, businesses, and individuals. It is essential to develop an automatic system to effectively classify and detect ransomware and reduce the risk of malicious activities. In this paper, we presented a feature selection-based novel framework, adopted different machine learning algorithms including neural network-based classifiers for effective ransomware classification and detection. We applied the framework with all the experiments on a ransomware dataset and evaluated the models’ performance by a robust comparative analysis among DT, RF, NB, LR, and NN classifiers. </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The experimental results demonstrate that the Random Forest classifier outperformed other classifiers by achieving the highest accuracy, F-beta, and precision scores with reasonable consistency in the 10-fold cross-validation results. </a:t>
            </a:r>
            <a:endParaRPr lang="en-IN" dirty="0">
              <a:solidFill>
                <a:schemeClr val="tx1"/>
              </a:solidFill>
              <a:latin typeface="Times New Roman" panose="02020603050405020304" pitchFamily="18" charset="0"/>
              <a:cs typeface="Times New Roman" panose="02020603050405020304" pitchFamily="18" charset="0"/>
            </a:endParaRPr>
          </a:p>
        </p:txBody>
      </p:sp>
      <p:pic>
        <p:nvPicPr>
          <p:cNvPr id="8" name="Picture 7" descr="cmrity.jpg">
            <a:extLst>
              <a:ext uri="{FF2B5EF4-FFF2-40B4-BE49-F238E27FC236}">
                <a16:creationId xmlns:a16="http://schemas.microsoft.com/office/drawing/2014/main" id="{7513D923-04E0-0430-B7ED-00CCB11F01BD}"/>
              </a:ext>
            </a:extLst>
          </p:cNvPr>
          <p:cNvPicPr>
            <a:picLocks noChangeAspect="1"/>
          </p:cNvPicPr>
          <p:nvPr/>
        </p:nvPicPr>
        <p:blipFill>
          <a:blip r:embed="rId2"/>
          <a:stretch>
            <a:fillRect/>
          </a:stretch>
        </p:blipFill>
        <p:spPr>
          <a:xfrm>
            <a:off x="7620000" y="152400"/>
            <a:ext cx="914400" cy="914400"/>
          </a:xfrm>
          <a:prstGeom prst="rect">
            <a:avLst/>
          </a:prstGeom>
        </p:spPr>
      </p:pic>
    </p:spTree>
    <p:extLst>
      <p:ext uri="{BB962C8B-B14F-4D97-AF65-F5344CB8AC3E}">
        <p14:creationId xmlns:p14="http://schemas.microsoft.com/office/powerpoint/2010/main" val="36295648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3E696-BA83-374D-B02E-171CE556E66B}"/>
              </a:ext>
            </a:extLst>
          </p:cNvPr>
          <p:cNvSpPr>
            <a:spLocks noGrp="1"/>
          </p:cNvSpPr>
          <p:nvPr>
            <p:ph type="title"/>
          </p:nvPr>
        </p:nvSpPr>
        <p:spPr>
          <a:xfrm>
            <a:off x="457200" y="-15081"/>
            <a:ext cx="8229600" cy="1143000"/>
          </a:xfrm>
        </p:spPr>
        <p:txBody>
          <a:bodyPr>
            <a:normAutofit/>
          </a:bodyPr>
          <a:lstStyle/>
          <a:p>
            <a:r>
              <a:rPr lang="en-US" sz="2400" dirty="0">
                <a:latin typeface="Times New Roman" panose="02020603050405020304" pitchFamily="18" charset="0"/>
                <a:cs typeface="Times New Roman" panose="02020603050405020304" pitchFamily="18" charset="0"/>
              </a:rPr>
              <a:t>FUTURE ENHANCEMENT</a:t>
            </a:r>
          </a:p>
        </p:txBody>
      </p:sp>
      <p:sp>
        <p:nvSpPr>
          <p:cNvPr id="3" name="Content Placeholder 2">
            <a:extLst>
              <a:ext uri="{FF2B5EF4-FFF2-40B4-BE49-F238E27FC236}">
                <a16:creationId xmlns:a16="http://schemas.microsoft.com/office/drawing/2014/main" id="{0C8A26C8-7961-468B-36D1-C178BBDCEE4B}"/>
              </a:ext>
            </a:extLst>
          </p:cNvPr>
          <p:cNvSpPr>
            <a:spLocks noGrp="1"/>
          </p:cNvSpPr>
          <p:nvPr>
            <p:ph idx="1"/>
          </p:nvPr>
        </p:nvSpPr>
        <p:spPr>
          <a:xfrm>
            <a:off x="457200" y="1066800"/>
            <a:ext cx="8229600" cy="5516562"/>
          </a:xfrm>
        </p:spPr>
        <p:txBody>
          <a:bodyPr>
            <a:normAutofit fontScale="92500" lnSpcReduction="20000"/>
          </a:bodyPr>
          <a:lstStyle/>
          <a:p>
            <a:pPr algn="just">
              <a:buNone/>
            </a:pPr>
            <a:r>
              <a:rPr lang="en-US" sz="1600" b="1" dirty="0">
                <a:latin typeface="Times New Roman" panose="02020603050405020304" pitchFamily="18" charset="0"/>
                <a:cs typeface="Times New Roman" panose="02020603050405020304" pitchFamily="18" charset="0"/>
              </a:rPr>
              <a:t>1. Real-Time Detection and Response System</a:t>
            </a:r>
          </a:p>
          <a:p>
            <a:pPr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Implement a </a:t>
            </a:r>
            <a:r>
              <a:rPr lang="en-US" sz="1600" b="1" dirty="0">
                <a:latin typeface="Times New Roman" panose="02020603050405020304" pitchFamily="18" charset="0"/>
                <a:cs typeface="Times New Roman" panose="02020603050405020304" pitchFamily="18" charset="0"/>
              </a:rPr>
              <a:t>real-time monitoring module</a:t>
            </a:r>
            <a:r>
              <a:rPr lang="en-US" sz="1600" dirty="0">
                <a:latin typeface="Times New Roman" panose="02020603050405020304" pitchFamily="18" charset="0"/>
                <a:cs typeface="Times New Roman" panose="02020603050405020304" pitchFamily="18" charset="0"/>
              </a:rPr>
              <a:t> that continuously analyzes file behaviors and system activities to detect ransomware as it executes, preventing encryption before damage occurs.</a:t>
            </a:r>
          </a:p>
          <a:p>
            <a:pPr marL="0" indent="0" algn="just">
              <a:buNone/>
            </a:pPr>
            <a:endParaRPr lang="en-US" sz="1600" dirty="0">
              <a:latin typeface="Times New Roman" panose="02020603050405020304" pitchFamily="18" charset="0"/>
              <a:cs typeface="Times New Roman" panose="02020603050405020304" pitchFamily="18" charset="0"/>
            </a:endParaRPr>
          </a:p>
          <a:p>
            <a:pPr algn="just">
              <a:buNone/>
            </a:pPr>
            <a:r>
              <a:rPr lang="en-US" sz="1600" b="1" dirty="0">
                <a:latin typeface="Times New Roman" panose="02020603050405020304" pitchFamily="18" charset="0"/>
                <a:cs typeface="Times New Roman" panose="02020603050405020304" pitchFamily="18" charset="0"/>
              </a:rPr>
              <a:t>2. Adaptive Learning with Reinforcement Learning (RL)</a:t>
            </a:r>
          </a:p>
          <a:p>
            <a:pPr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Integrate </a:t>
            </a:r>
            <a:r>
              <a:rPr lang="en-US" sz="1600" b="1" dirty="0">
                <a:latin typeface="Times New Roman" panose="02020603050405020304" pitchFamily="18" charset="0"/>
                <a:cs typeface="Times New Roman" panose="02020603050405020304" pitchFamily="18" charset="0"/>
              </a:rPr>
              <a:t>Reinforcement Learning</a:t>
            </a:r>
            <a:r>
              <a:rPr lang="en-US" sz="1600" dirty="0">
                <a:latin typeface="Times New Roman" panose="02020603050405020304" pitchFamily="18" charset="0"/>
                <a:cs typeface="Times New Roman" panose="02020603050405020304" pitchFamily="18" charset="0"/>
              </a:rPr>
              <a:t> to enable the model to </a:t>
            </a:r>
            <a:r>
              <a:rPr lang="en-US" sz="1600" b="1" dirty="0">
                <a:latin typeface="Times New Roman" panose="02020603050405020304" pitchFamily="18" charset="0"/>
                <a:cs typeface="Times New Roman" panose="02020603050405020304" pitchFamily="18" charset="0"/>
              </a:rPr>
              <a:t>adapt to new ransomware variants</a:t>
            </a:r>
            <a:r>
              <a:rPr lang="en-US" sz="1600" dirty="0">
                <a:latin typeface="Times New Roman" panose="02020603050405020304" pitchFamily="18" charset="0"/>
                <a:cs typeface="Times New Roman" panose="02020603050405020304" pitchFamily="18" charset="0"/>
              </a:rPr>
              <a:t> autonomously, improving detection accuracy over time without manual retraining.</a:t>
            </a:r>
          </a:p>
          <a:p>
            <a:pPr marL="0" indent="0" algn="just">
              <a:buNone/>
            </a:pPr>
            <a:endParaRPr lang="en-US" sz="1600" dirty="0">
              <a:latin typeface="Times New Roman" panose="02020603050405020304" pitchFamily="18" charset="0"/>
              <a:cs typeface="Times New Roman" panose="02020603050405020304" pitchFamily="18" charset="0"/>
            </a:endParaRPr>
          </a:p>
          <a:p>
            <a:pPr algn="just">
              <a:buNone/>
            </a:pPr>
            <a:r>
              <a:rPr lang="en-US" sz="1600" b="1" dirty="0">
                <a:latin typeface="Times New Roman" panose="02020603050405020304" pitchFamily="18" charset="0"/>
                <a:cs typeface="Times New Roman" panose="02020603050405020304" pitchFamily="18" charset="0"/>
              </a:rPr>
              <a:t>3. Federated Learning for Distributed Protection</a:t>
            </a:r>
          </a:p>
          <a:p>
            <a:pPr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Implement </a:t>
            </a:r>
            <a:r>
              <a:rPr lang="en-US" sz="1600" b="1" dirty="0">
                <a:latin typeface="Times New Roman" panose="02020603050405020304" pitchFamily="18" charset="0"/>
                <a:cs typeface="Times New Roman" panose="02020603050405020304" pitchFamily="18" charset="0"/>
              </a:rPr>
              <a:t>federated learning</a:t>
            </a:r>
            <a:r>
              <a:rPr lang="en-US" sz="1600" dirty="0">
                <a:latin typeface="Times New Roman" panose="02020603050405020304" pitchFamily="18" charset="0"/>
                <a:cs typeface="Times New Roman" panose="02020603050405020304" pitchFamily="18" charset="0"/>
              </a:rPr>
              <a:t> to allow devices and systems to collaboratively improve the model without sharing sensitive data, enhancing privacy and global threat detection.</a:t>
            </a:r>
          </a:p>
          <a:p>
            <a:pPr algn="just">
              <a:buNone/>
            </a:pPr>
            <a:endParaRPr lang="en-US" sz="1600" dirty="0">
              <a:latin typeface="Times New Roman" panose="02020603050405020304" pitchFamily="18" charset="0"/>
              <a:cs typeface="Times New Roman" panose="02020603050405020304" pitchFamily="18" charset="0"/>
            </a:endParaRPr>
          </a:p>
          <a:p>
            <a:pPr algn="just">
              <a:buNone/>
            </a:pPr>
            <a:r>
              <a:rPr lang="en-US" sz="1600" b="1" dirty="0">
                <a:latin typeface="Times New Roman" panose="02020603050405020304" pitchFamily="18" charset="0"/>
                <a:cs typeface="Times New Roman" panose="02020603050405020304" pitchFamily="18" charset="0"/>
              </a:rPr>
              <a:t>4. Behavioral Analysis with Anomaly Detection</a:t>
            </a:r>
          </a:p>
          <a:p>
            <a:pPr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Develop an </a:t>
            </a:r>
            <a:r>
              <a:rPr lang="en-US" sz="1600" b="1" dirty="0">
                <a:latin typeface="Times New Roman" panose="02020603050405020304" pitchFamily="18" charset="0"/>
                <a:cs typeface="Times New Roman" panose="02020603050405020304" pitchFamily="18" charset="0"/>
              </a:rPr>
              <a:t>anomaly detection module</a:t>
            </a:r>
            <a:r>
              <a:rPr lang="en-US" sz="1600" dirty="0">
                <a:latin typeface="Times New Roman" panose="02020603050405020304" pitchFamily="18" charset="0"/>
                <a:cs typeface="Times New Roman" panose="02020603050405020304" pitchFamily="18" charset="0"/>
              </a:rPr>
              <a:t> that monitors unusual file system behaviors, such as sudden mass file encryption or unauthorized privilege escalation, signaling a potential ransomware attack.</a:t>
            </a:r>
          </a:p>
          <a:p>
            <a:pPr algn="just">
              <a:buNone/>
            </a:pPr>
            <a:endParaRPr lang="en-US" sz="1600" dirty="0">
              <a:latin typeface="Times New Roman" panose="02020603050405020304" pitchFamily="18" charset="0"/>
              <a:cs typeface="Times New Roman" panose="02020603050405020304" pitchFamily="18" charset="0"/>
            </a:endParaRPr>
          </a:p>
          <a:p>
            <a:pPr algn="just">
              <a:buNone/>
            </a:pPr>
            <a:r>
              <a:rPr lang="en-US" sz="1600" b="1" dirty="0">
                <a:latin typeface="Times New Roman" panose="02020603050405020304" pitchFamily="18" charset="0"/>
                <a:cs typeface="Times New Roman" panose="02020603050405020304" pitchFamily="18" charset="0"/>
              </a:rPr>
              <a:t>5. Transfer Learning for Cross-Platform Detection</a:t>
            </a:r>
          </a:p>
          <a:p>
            <a:pPr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Enable </a:t>
            </a:r>
            <a:r>
              <a:rPr lang="en-US" sz="1600" b="1" dirty="0">
                <a:latin typeface="Times New Roman" panose="02020603050405020304" pitchFamily="18" charset="0"/>
                <a:cs typeface="Times New Roman" panose="02020603050405020304" pitchFamily="18" charset="0"/>
              </a:rPr>
              <a:t>transfer learning</a:t>
            </a:r>
            <a:r>
              <a:rPr lang="en-US" sz="1600" dirty="0">
                <a:latin typeface="Times New Roman" panose="02020603050405020304" pitchFamily="18" charset="0"/>
                <a:cs typeface="Times New Roman" panose="02020603050405020304" pitchFamily="18" charset="0"/>
              </a:rPr>
              <a:t> to extend ransomware detection from </a:t>
            </a:r>
            <a:r>
              <a:rPr lang="en-US" sz="1600" b="1" dirty="0">
                <a:latin typeface="Times New Roman" panose="02020603050405020304" pitchFamily="18" charset="0"/>
                <a:cs typeface="Times New Roman" panose="02020603050405020304" pitchFamily="18" charset="0"/>
              </a:rPr>
              <a:t>Windows environments</a:t>
            </a:r>
            <a:r>
              <a:rPr lang="en-US" sz="1600" dirty="0">
                <a:latin typeface="Times New Roman" panose="02020603050405020304" pitchFamily="18" charset="0"/>
                <a:cs typeface="Times New Roman" panose="02020603050405020304" pitchFamily="18" charset="0"/>
              </a:rPr>
              <a:t> to </a:t>
            </a:r>
            <a:r>
              <a:rPr lang="en-US" sz="1600" b="1" dirty="0">
                <a:latin typeface="Times New Roman" panose="02020603050405020304" pitchFamily="18" charset="0"/>
                <a:cs typeface="Times New Roman" panose="02020603050405020304" pitchFamily="18" charset="0"/>
              </a:rPr>
              <a:t>Linux, macOS, and mobile platforms</a:t>
            </a:r>
            <a:r>
              <a:rPr lang="en-US" sz="1600" dirty="0">
                <a:latin typeface="Times New Roman" panose="02020603050405020304" pitchFamily="18" charset="0"/>
                <a:cs typeface="Times New Roman" panose="02020603050405020304" pitchFamily="18" charset="0"/>
              </a:rPr>
              <a:t> without extensive re-training.</a:t>
            </a:r>
          </a:p>
          <a:p>
            <a:pPr algn="just">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algn="just">
              <a:buNone/>
            </a:pPr>
            <a:r>
              <a:rPr lang="en-US" sz="1600" b="1" dirty="0">
                <a:latin typeface="Times New Roman" panose="02020603050405020304" pitchFamily="18" charset="0"/>
                <a:cs typeface="Times New Roman" panose="02020603050405020304" pitchFamily="18" charset="0"/>
              </a:rPr>
              <a:t>6. Cloud-Based Collaborative Defense System</a:t>
            </a:r>
          </a:p>
          <a:p>
            <a:pPr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Implement a </a:t>
            </a:r>
            <a:r>
              <a:rPr lang="en-US" sz="1600" b="1" dirty="0">
                <a:latin typeface="Times New Roman" panose="02020603050405020304" pitchFamily="18" charset="0"/>
                <a:cs typeface="Times New Roman" panose="02020603050405020304" pitchFamily="18" charset="0"/>
              </a:rPr>
              <a:t>cloud-based centralized learning system</a:t>
            </a:r>
            <a:r>
              <a:rPr lang="en-US" sz="1600" dirty="0">
                <a:latin typeface="Times New Roman" panose="02020603050405020304" pitchFamily="18" charset="0"/>
                <a:cs typeface="Times New Roman" panose="02020603050405020304" pitchFamily="18" charset="0"/>
              </a:rPr>
              <a:t> that collects anonymized data from multiple organizations, continuously updating the model to protect all connected systems from emerging ransomware families.</a:t>
            </a:r>
          </a:p>
        </p:txBody>
      </p:sp>
      <p:sp>
        <p:nvSpPr>
          <p:cNvPr id="5" name="Rectangle 2">
            <a:extLst>
              <a:ext uri="{FF2B5EF4-FFF2-40B4-BE49-F238E27FC236}">
                <a16:creationId xmlns:a16="http://schemas.microsoft.com/office/drawing/2014/main" id="{7E5F03B3-ECF1-7C6B-0E6B-435124F8941B}"/>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Combine Models:</a:t>
            </a:r>
            <a:r>
              <a:rPr kumimoji="0" lang="en-US" altLang="en-US" sz="1800" b="0" i="0" u="none" strike="noStrike" cap="none" normalizeH="0" baseline="0" dirty="0">
                <a:ln>
                  <a:noFill/>
                </a:ln>
                <a:solidFill>
                  <a:schemeClr val="tx1"/>
                </a:solidFill>
                <a:effectLst/>
                <a:latin typeface="Arial" panose="020B0604020202020204" pitchFamily="34" charset="0"/>
              </a:rPr>
              <a:t> Use multiple algorithms together (e.g., decision trees + neural networks) for better accuracy.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0" name="Picture 9" descr="cmrity.jpg">
            <a:extLst>
              <a:ext uri="{FF2B5EF4-FFF2-40B4-BE49-F238E27FC236}">
                <a16:creationId xmlns:a16="http://schemas.microsoft.com/office/drawing/2014/main" id="{CB7A3596-CA2C-070E-BA2D-C8A68F774076}"/>
              </a:ext>
            </a:extLst>
          </p:cNvPr>
          <p:cNvPicPr>
            <a:picLocks noChangeAspect="1"/>
          </p:cNvPicPr>
          <p:nvPr/>
        </p:nvPicPr>
        <p:blipFill>
          <a:blip r:embed="rId2"/>
          <a:stretch>
            <a:fillRect/>
          </a:stretch>
        </p:blipFill>
        <p:spPr>
          <a:xfrm>
            <a:off x="7620000" y="152400"/>
            <a:ext cx="914400" cy="914400"/>
          </a:xfrm>
          <a:prstGeom prst="rect">
            <a:avLst/>
          </a:prstGeom>
        </p:spPr>
      </p:pic>
    </p:spTree>
    <p:extLst>
      <p:ext uri="{BB962C8B-B14F-4D97-AF65-F5344CB8AC3E}">
        <p14:creationId xmlns:p14="http://schemas.microsoft.com/office/powerpoint/2010/main" val="13164509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590800"/>
            <a:ext cx="8229600" cy="1143000"/>
          </a:xfrm>
        </p:spPr>
        <p:txBody>
          <a:bodyPr/>
          <a:lstStyle/>
          <a:p>
            <a:r>
              <a:rPr lang="en-US" dirty="0">
                <a:latin typeface="Times New Roman" panose="02020603050405020304" pitchFamily="18" charset="0"/>
                <a:cs typeface="Times New Roman" panose="02020603050405020304" pitchFamily="18" charset="0"/>
              </a:rPr>
              <a:t>Thank You</a:t>
            </a:r>
          </a:p>
        </p:txBody>
      </p:sp>
      <p:pic>
        <p:nvPicPr>
          <p:cNvPr id="3" name="Picture 2" descr="cmrity.jpg"/>
          <p:cNvPicPr>
            <a:picLocks noChangeAspect="1"/>
          </p:cNvPicPr>
          <p:nvPr/>
        </p:nvPicPr>
        <p:blipFill>
          <a:blip r:embed="rId2"/>
          <a:stretch>
            <a:fillRect/>
          </a:stretch>
        </p:blipFill>
        <p:spPr>
          <a:xfrm>
            <a:off x="7620000" y="152400"/>
            <a:ext cx="914400" cy="9144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365</TotalTime>
  <Words>1482</Words>
  <Application>Microsoft Office PowerPoint</Application>
  <PresentationFormat>On-screen Show (4:3)</PresentationFormat>
  <Paragraphs>132</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Hprefvnquvjibbpblyxjblvckra</vt:lpstr>
      <vt:lpstr>Times New Roman</vt:lpstr>
      <vt:lpstr>Wingdings</vt:lpstr>
      <vt:lpstr>Office Theme</vt:lpstr>
      <vt:lpstr>RANSOMWARE  CLASSIFICATION  AND  DETECTION USING  MACHINE LEARNING  ALGORITHMS </vt:lpstr>
      <vt:lpstr>INTRODUCTION</vt:lpstr>
      <vt:lpstr>ABSTRACT</vt:lpstr>
      <vt:lpstr>LITERATURE SURVEY</vt:lpstr>
      <vt:lpstr>PROBLEM STATEMENT </vt:lpstr>
      <vt:lpstr>METHODOLOGY &amp; ARCHITECTURE</vt:lpstr>
      <vt:lpstr>PowerPoint Presentation</vt:lpstr>
      <vt:lpstr>METHODOLOGY</vt:lpstr>
      <vt:lpstr>PowerPoint Presentation</vt:lpstr>
      <vt:lpstr>FUTURE ENHANCEMENT</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your Project</dc:title>
  <dc:creator>student</dc:creator>
  <cp:lastModifiedBy>D.Thanoj Sriman</cp:lastModifiedBy>
  <cp:revision>18</cp:revision>
  <dcterms:created xsi:type="dcterms:W3CDTF">2024-09-26T06:08:00Z</dcterms:created>
  <dcterms:modified xsi:type="dcterms:W3CDTF">2025-03-26T01:34:46Z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743B5E490E4F4CDD9A26841D39D74D9F_12</vt:lpwstr>
  </property>
  <property fmtid="{D5CDD505-2E9C-101B-9397-08002B2CF9AE}" pid="3" name="KSOProductBuildVer">
    <vt:lpwstr>1033-12.2.0.17562</vt:lpwstr>
  </property>
</Properties>
</file>